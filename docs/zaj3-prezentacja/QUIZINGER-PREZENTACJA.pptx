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82" r:id="rId8"/>
    <p:sldId id="283" r:id="rId9"/>
    <p:sldId id="284" r:id="rId10"/>
    <p:sldId id="285" r:id="rId11"/>
    <p:sldId id="286" r:id="rId12"/>
    <p:sldId id="287" r:id="rId13"/>
    <p:sldId id="261" r:id="rId14"/>
    <p:sldId id="263" r:id="rId15"/>
    <p:sldId id="262" r:id="rId16"/>
    <p:sldId id="265" r:id="rId17"/>
    <p:sldId id="267" r:id="rId18"/>
    <p:sldId id="266" r:id="rId19"/>
    <p:sldId id="268" r:id="rId20"/>
    <p:sldId id="278" r:id="rId21"/>
    <p:sldId id="270" r:id="rId22"/>
    <p:sldId id="279" r:id="rId23"/>
    <p:sldId id="271" r:id="rId24"/>
    <p:sldId id="280" r:id="rId25"/>
    <p:sldId id="272" r:id="rId26"/>
    <p:sldId id="281" r:id="rId27"/>
    <p:sldId id="273" r:id="rId28"/>
    <p:sldId id="274" r:id="rId29"/>
    <p:sldId id="275" r:id="rId30"/>
    <p:sldId id="269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7105" autoAdjust="0"/>
  </p:normalViewPr>
  <p:slideViewPr>
    <p:cSldViewPr snapToGrid="0">
      <p:cViewPr varScale="1">
        <p:scale>
          <a:sx n="68" d="100"/>
          <a:sy n="68" d="100"/>
        </p:scale>
        <p:origin x="7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CB347-375C-4AE4-B5A4-B307A3A4AD3F}" type="datetimeFigureOut">
              <a:rPr lang="pl-PL" smtClean="0"/>
              <a:t>19.10.2026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E236-B2B7-4198-9353-B6F7BAB532D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67427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CB347-375C-4AE4-B5A4-B307A3A4AD3F}" type="datetimeFigureOut">
              <a:rPr lang="pl-PL" smtClean="0"/>
              <a:t>19.10.2026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E236-B2B7-4198-9353-B6F7BAB532D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33413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CB347-375C-4AE4-B5A4-B307A3A4AD3F}" type="datetimeFigureOut">
              <a:rPr lang="pl-PL" smtClean="0"/>
              <a:t>19.10.2026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E236-B2B7-4198-9353-B6F7BAB532D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56156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CB347-375C-4AE4-B5A4-B307A3A4AD3F}" type="datetimeFigureOut">
              <a:rPr lang="pl-PL" smtClean="0"/>
              <a:t>19.10.2026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E236-B2B7-4198-9353-B6F7BAB532D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39124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CB347-375C-4AE4-B5A4-B307A3A4AD3F}" type="datetimeFigureOut">
              <a:rPr lang="pl-PL" smtClean="0"/>
              <a:t>19.10.2026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E236-B2B7-4198-9353-B6F7BAB532D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37282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CB347-375C-4AE4-B5A4-B307A3A4AD3F}" type="datetimeFigureOut">
              <a:rPr lang="pl-PL" smtClean="0"/>
              <a:t>19.10.2026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E236-B2B7-4198-9353-B6F7BAB532D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69782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CB347-375C-4AE4-B5A4-B307A3A4AD3F}" type="datetimeFigureOut">
              <a:rPr lang="pl-PL" smtClean="0"/>
              <a:t>19.10.2026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E236-B2B7-4198-9353-B6F7BAB532D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79886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CB347-375C-4AE4-B5A4-B307A3A4AD3F}" type="datetimeFigureOut">
              <a:rPr lang="pl-PL" smtClean="0"/>
              <a:t>19.10.2026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E236-B2B7-4198-9353-B6F7BAB532D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88042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56ACB347-375C-4AE4-B5A4-B307A3A4AD3F}" type="datetimeFigureOut">
              <a:rPr lang="pl-PL" smtClean="0"/>
              <a:t>19.10.2026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4E28E236-B2B7-4198-9353-B6F7BAB532D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72485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raz panoramiczny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CB347-375C-4AE4-B5A4-B307A3A4AD3F}" type="datetimeFigureOut">
              <a:rPr lang="pl-PL" smtClean="0"/>
              <a:t>19.10.2026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E236-B2B7-4198-9353-B6F7BAB532D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77718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CB347-375C-4AE4-B5A4-B307A3A4AD3F}" type="datetimeFigureOut">
              <a:rPr lang="pl-PL" smtClean="0"/>
              <a:t>19.10.2026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E236-B2B7-4198-9353-B6F7BAB532D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443654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CB347-375C-4AE4-B5A4-B307A3A4AD3F}" type="datetimeFigureOut">
              <a:rPr lang="pl-PL" smtClean="0"/>
              <a:t>19.10.2026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E236-B2B7-4198-9353-B6F7BAB532D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338327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CB347-375C-4AE4-B5A4-B307A3A4AD3F}" type="datetimeFigureOut">
              <a:rPr lang="pl-PL" smtClean="0"/>
              <a:t>19.10.2026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E236-B2B7-4198-9353-B6F7BAB532D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99374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 cytat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CB347-375C-4AE4-B5A4-B307A3A4AD3F}" type="datetimeFigureOut">
              <a:rPr lang="pl-PL" smtClean="0"/>
              <a:t>19.10.2026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E236-B2B7-4198-9353-B6F7BAB532D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256605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wda lub fał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CB347-375C-4AE4-B5A4-B307A3A4AD3F}" type="datetimeFigureOut">
              <a:rPr lang="pl-PL" smtClean="0"/>
              <a:t>19.10.2026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E236-B2B7-4198-9353-B6F7BAB532D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35265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CB347-375C-4AE4-B5A4-B307A3A4AD3F}" type="datetimeFigureOut">
              <a:rPr lang="pl-PL" smtClean="0"/>
              <a:t>19.10.2026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E236-B2B7-4198-9353-B6F7BAB532D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852917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CB347-375C-4AE4-B5A4-B307A3A4AD3F}" type="datetimeFigureOut">
              <a:rPr lang="pl-PL" smtClean="0"/>
              <a:t>19.10.2026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E236-B2B7-4198-9353-B6F7BAB532D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53948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artisticPencilGrayscale pencilSize="46"/>
                    </a14:imgEffect>
                    <a14:imgEffect>
                      <a14:sharpenSoften amount="-29000"/>
                    </a14:imgEffect>
                    <a14:imgEffect>
                      <a14:brightnessContrast bright="-44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6ACB347-375C-4AE4-B5A4-B307A3A4AD3F}" type="datetimeFigureOut">
              <a:rPr lang="pl-PL" smtClean="0"/>
              <a:t>19.10.2026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4E28E236-B2B7-4198-9353-B6F7BAB532D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664859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7AF035D-4E55-0EF1-48BA-0D404348BC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7889" y="713231"/>
            <a:ext cx="8676222" cy="1085089"/>
          </a:xfrm>
        </p:spPr>
        <p:txBody>
          <a:bodyPr/>
          <a:lstStyle/>
          <a:p>
            <a:r>
              <a:rPr lang="pl-PL" sz="6000" b="1" i="1" dirty="0"/>
              <a:t>QUIZINGER</a:t>
            </a:r>
            <a:endParaRPr lang="pl-PL" b="1" i="1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2424932-C8DA-0D04-116D-EBB18782C0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7889" y="2002536"/>
            <a:ext cx="8676222" cy="1905000"/>
          </a:xfrm>
        </p:spPr>
        <p:txBody>
          <a:bodyPr/>
          <a:lstStyle/>
          <a:p>
            <a:r>
              <a:rPr lang="pl-PL" sz="3200" b="1" i="1" dirty="0"/>
              <a:t>Narzędzie, które pozwoli ci szybciej, efektywniej, a także z uczuciem satysfakcji posiąść wiedzę.</a:t>
            </a:r>
          </a:p>
          <a:p>
            <a:endParaRPr lang="pl-PL" dirty="0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9FCD1BF9-0C04-0F5A-4C96-F756DE5D9263}"/>
              </a:ext>
            </a:extLst>
          </p:cNvPr>
          <p:cNvSpPr txBox="1"/>
          <p:nvPr/>
        </p:nvSpPr>
        <p:spPr>
          <a:xfrm>
            <a:off x="6047232" y="6144769"/>
            <a:ext cx="61447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Autorzy: Jan Pałka, Amelia Nowacka, Jakub Nowiński</a:t>
            </a:r>
          </a:p>
          <a:p>
            <a:pPr algn="ctr"/>
            <a:r>
              <a:rPr lang="pl-PL" dirty="0"/>
              <a:t>ITE 2 ROK CWA 3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912849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487557E-8C6C-B666-8D1B-2F6951CDF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0"/>
            <a:ext cx="9905998" cy="1353312"/>
          </a:xfrm>
        </p:spPr>
        <p:txBody>
          <a:bodyPr>
            <a:normAutofit/>
          </a:bodyPr>
          <a:lstStyle/>
          <a:p>
            <a:pPr algn="ctr"/>
            <a:r>
              <a:rPr lang="pl-PL" sz="4800" b="1" dirty="0"/>
              <a:t>POMYSŁ</a:t>
            </a:r>
            <a:endParaRPr lang="pl-PL" sz="3600" b="1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63CC534-C28B-B7C7-FA0E-889AB0437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1353312"/>
            <a:ext cx="9905998" cy="51572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l-PL" sz="2400" b="1" dirty="0"/>
              <a:t>Dlaczego?</a:t>
            </a:r>
          </a:p>
          <a:p>
            <a:pPr marL="0" indent="0">
              <a:buNone/>
            </a:pPr>
            <a:r>
              <a:rPr lang="pl-PL" b="1" dirty="0"/>
              <a:t>Tradycyjne metody nauki są nużące i w dobie ciągłego dostępu do urządzeń mobilnych, aplikacja do nauki to świetne wykorzystanie ich potencjału - Użytkownicy potrzebują lekkiej, natychmiastowej formy </a:t>
            </a:r>
            <a:r>
              <a:rPr lang="pl-PL" b="1" dirty="0" err="1"/>
              <a:t>samosprawdzania</a:t>
            </a:r>
            <a:r>
              <a:rPr lang="pl-PL" b="1" dirty="0"/>
              <a:t> wiedzy </a:t>
            </a:r>
          </a:p>
          <a:p>
            <a:pPr marL="0" indent="0">
              <a:buNone/>
            </a:pPr>
            <a:endParaRPr lang="pl-PL" b="1" dirty="0"/>
          </a:p>
          <a:p>
            <a:pPr marL="0" indent="0">
              <a:buNone/>
            </a:pPr>
            <a:r>
              <a:rPr lang="pl-PL" sz="2400" b="1" dirty="0"/>
              <a:t>Nasza Platforma – dostępna w przeglądarce jak i przez aplikację mobilną</a:t>
            </a:r>
          </a:p>
          <a:p>
            <a:r>
              <a:rPr lang="pl-PL" b="1" dirty="0"/>
              <a:t>funkcja fiszek do samodzielnej nauki i areny do mierzenia się z innymi użytkownikami dla każdego quizu</a:t>
            </a:r>
          </a:p>
          <a:p>
            <a:r>
              <a:rPr lang="pl-PL" b="1" dirty="0"/>
              <a:t>Każdy zalogowany użytkownik może utworzyć zestaw fiszek a następnie na jego podstawie arenę i odwrotnie, określić widoczność quizu oraz wszystkie parametry, takie jak czas trwania czy ilość punktów za każde pytanie</a:t>
            </a:r>
          </a:p>
          <a:p>
            <a:r>
              <a:rPr lang="pl-PL" b="1" dirty="0"/>
              <a:t>znajdują się także elementy gamifikacji, takie jak statystyki gracza, rankingi czy punkty za zwycięstwa na arenach, za które można kupować ozdoby do profilu</a:t>
            </a:r>
          </a:p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754018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84F070A-1F37-D60B-78EC-BE0F379D0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884080"/>
          </a:xfrm>
        </p:spPr>
        <p:txBody>
          <a:bodyPr>
            <a:normAutofit/>
          </a:bodyPr>
          <a:lstStyle/>
          <a:p>
            <a:pPr algn="ctr"/>
            <a:r>
              <a:rPr lang="pl-PL" sz="4400" b="1" dirty="0">
                <a:effectLst/>
              </a:rPr>
              <a:t>badanie rynku</a:t>
            </a:r>
            <a:endParaRPr lang="pl-PL" sz="4400" b="1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C6DE7D3-3EDB-742E-B2FC-5B14EDE0E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26" y="889001"/>
            <a:ext cx="12105373" cy="5969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b="1" dirty="0">
                <a:effectLst/>
              </a:rPr>
              <a:t>Jaka jest grupa docelowa aplikacji? </a:t>
            </a:r>
          </a:p>
          <a:p>
            <a:pPr marL="0" indent="0">
              <a:buNone/>
            </a:pPr>
            <a:r>
              <a:rPr lang="pl-PL" sz="1600" b="1" dirty="0">
                <a:effectLst/>
              </a:rPr>
              <a:t>- Uczniowie, studenci, prowadzący, nauczyciele i każda osoba która chce się uczyć.</a:t>
            </a:r>
          </a:p>
          <a:p>
            <a:pPr marL="0" indent="0">
              <a:buNone/>
            </a:pPr>
            <a:r>
              <a:rPr lang="pl-PL" b="1" dirty="0">
                <a:effectLst/>
              </a:rPr>
              <a:t>Jakie są potrzeby i oczekiwania użytkowników? </a:t>
            </a:r>
          </a:p>
          <a:p>
            <a:pPr marL="0" indent="0">
              <a:buNone/>
            </a:pPr>
            <a:r>
              <a:rPr lang="pl-PL" sz="1600" b="1" dirty="0">
                <a:effectLst/>
              </a:rPr>
              <a:t>- Szybka i efektywna nauka, rywalizacja, łatwe w tworzeniu materiały do nauki.</a:t>
            </a:r>
          </a:p>
          <a:p>
            <a:pPr marL="0" indent="0">
              <a:buNone/>
            </a:pPr>
            <a:r>
              <a:rPr lang="pl-PL" b="1" dirty="0">
                <a:effectLst/>
              </a:rPr>
              <a:t>W jaki sposób stworzenie naszej aplikacji może wspomóc użytkowników?</a:t>
            </a:r>
          </a:p>
          <a:p>
            <a:pPr marL="0" indent="0">
              <a:buNone/>
            </a:pPr>
            <a:r>
              <a:rPr lang="pl-PL" sz="1800" b="1" dirty="0">
                <a:effectLst/>
              </a:rPr>
              <a:t> </a:t>
            </a:r>
            <a:r>
              <a:rPr lang="pl-PL" sz="1600" b="1" dirty="0">
                <a:effectLst/>
              </a:rPr>
              <a:t>- Efektywna pomoc w nauce, skonsolidowanie wszystkich materiałów i narzędzi do nauki w jednym miejscu.</a:t>
            </a:r>
          </a:p>
          <a:p>
            <a:pPr marL="0" indent="0">
              <a:buNone/>
            </a:pPr>
            <a:r>
              <a:rPr lang="pl-PL" b="1" dirty="0">
                <a:effectLst/>
              </a:rPr>
              <a:t>Jakie problemy lub wyzwania starasz się rozwiązać za pomocą tego </a:t>
            </a:r>
            <a:r>
              <a:rPr lang="pl-PL" b="1" dirty="0" err="1">
                <a:effectLst/>
              </a:rPr>
              <a:t>typuoprogramowania</a:t>
            </a:r>
            <a:r>
              <a:rPr lang="pl-PL" b="1" dirty="0">
                <a:effectLst/>
              </a:rPr>
              <a:t>? </a:t>
            </a:r>
          </a:p>
          <a:p>
            <a:pPr marL="0" indent="0">
              <a:buNone/>
            </a:pPr>
            <a:r>
              <a:rPr lang="pl-PL" sz="1600" b="1" dirty="0">
                <a:effectLst/>
              </a:rPr>
              <a:t>- Rozbicie narzędzi do nauki w wielu aplikacjach i stronach internetowych. </a:t>
            </a:r>
            <a:r>
              <a:rPr lang="pl-PL" sz="1600" b="1" dirty="0" err="1">
                <a:effectLst/>
              </a:rPr>
              <a:t>Paywalle</a:t>
            </a:r>
            <a:r>
              <a:rPr lang="pl-PL" sz="1600" b="1" dirty="0">
                <a:effectLst/>
              </a:rPr>
              <a:t> blokujące kluczowe funkcje. </a:t>
            </a:r>
          </a:p>
          <a:p>
            <a:pPr marL="0" indent="0">
              <a:buNone/>
            </a:pPr>
            <a:r>
              <a:rPr lang="pl-PL" b="1" dirty="0">
                <a:effectLst/>
              </a:rPr>
              <a:t>Czym aplikacja się wyróżnia? </a:t>
            </a:r>
          </a:p>
          <a:p>
            <a:pPr marL="0" indent="0">
              <a:buNone/>
            </a:pPr>
            <a:r>
              <a:rPr lang="pl-PL" sz="1600" b="1" dirty="0">
                <a:effectLst/>
              </a:rPr>
              <a:t>- Design który nie </a:t>
            </a:r>
            <a:r>
              <a:rPr lang="pl-PL" sz="1600" b="1" dirty="0" err="1">
                <a:effectLst/>
              </a:rPr>
              <a:t>przebodźcowane</a:t>
            </a:r>
            <a:r>
              <a:rPr lang="pl-PL" sz="1600" b="1" dirty="0">
                <a:effectLst/>
              </a:rPr>
              <a:t> użytkowników. Skupienie wszystkich najważniejszych funkcji w jednym miejscu. Zastosowanie AI do tworzenia materiałów naukowych w bardzo prosty dla użytkownika sposób. Rozbudowany system punktowy. Łatwa konwersja fiszek na areny i odwrotnie. </a:t>
            </a:r>
          </a:p>
          <a:p>
            <a:pPr marL="0" indent="0">
              <a:buNone/>
            </a:pPr>
            <a:r>
              <a:rPr lang="pl-PL" b="1" dirty="0">
                <a:effectLst/>
              </a:rPr>
              <a:t>Czy będzie to oprogramowanie bardziej do celów biznesowych, czy osobistych? </a:t>
            </a:r>
          </a:p>
          <a:p>
            <a:pPr marL="0" indent="0">
              <a:buNone/>
            </a:pPr>
            <a:r>
              <a:rPr lang="pl-PL" sz="1600" b="1" dirty="0">
                <a:effectLst/>
              </a:rPr>
              <a:t>- Nie zamierzamy zbyt komercjalizować naszej aplikacji. Tworzona jest od studentów dla studentów i uczniów.</a:t>
            </a:r>
            <a:endParaRPr lang="pl-PL" sz="18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89333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691C79B-0E01-09D7-250C-00396944D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128"/>
            <a:ext cx="12191999" cy="6732871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pl-PL" sz="2600" dirty="0">
              <a:effectLst/>
            </a:endParaRPr>
          </a:p>
          <a:p>
            <a:pPr marL="0" indent="0">
              <a:buNone/>
            </a:pPr>
            <a:r>
              <a:rPr lang="pl-PL" sz="3600" b="1" dirty="0">
                <a:effectLst/>
              </a:rPr>
              <a:t>Czy pomysł jest możliwy do zrealizowania w realnym czasie, budżecie i nakładzie pracy? </a:t>
            </a:r>
            <a:r>
              <a:rPr lang="pl-PL" sz="2600" b="1" dirty="0">
                <a:effectLst/>
              </a:rPr>
              <a:t>– Tak</a:t>
            </a:r>
          </a:p>
          <a:p>
            <a:pPr marL="0" indent="0">
              <a:buNone/>
            </a:pPr>
            <a:r>
              <a:rPr lang="pl-PL" sz="3600" b="1" dirty="0">
                <a:effectLst/>
              </a:rPr>
              <a:t>Jakie aplikacje już istnieją? </a:t>
            </a:r>
          </a:p>
          <a:p>
            <a:pPr marL="0" indent="0">
              <a:buNone/>
            </a:pPr>
            <a:r>
              <a:rPr lang="pl-PL" sz="2600" b="1" dirty="0">
                <a:effectLst/>
              </a:rPr>
              <a:t>- </a:t>
            </a:r>
            <a:r>
              <a:rPr lang="pl-PL" sz="2600" b="1" dirty="0" err="1">
                <a:effectLst/>
              </a:rPr>
              <a:t>Kahoot</a:t>
            </a:r>
            <a:r>
              <a:rPr lang="pl-PL" sz="2600" b="1" dirty="0">
                <a:effectLst/>
              </a:rPr>
              <a:t>. </a:t>
            </a:r>
            <a:r>
              <a:rPr lang="pl-PL" sz="2600" b="1" dirty="0" err="1">
                <a:effectLst/>
              </a:rPr>
              <a:t>Quizzlet</a:t>
            </a:r>
            <a:r>
              <a:rPr lang="pl-PL" sz="2600" b="1" dirty="0">
                <a:effectLst/>
              </a:rPr>
              <a:t>, Same Quizy, Global Quiz, </a:t>
            </a:r>
            <a:r>
              <a:rPr lang="pl-PL" sz="2600" b="1" dirty="0" err="1">
                <a:effectLst/>
              </a:rPr>
              <a:t>Quizziz</a:t>
            </a:r>
            <a:r>
              <a:rPr lang="pl-PL" sz="2600" b="1" dirty="0">
                <a:effectLst/>
              </a:rPr>
              <a:t> </a:t>
            </a:r>
          </a:p>
          <a:p>
            <a:pPr marL="0" indent="0">
              <a:buNone/>
            </a:pPr>
            <a:r>
              <a:rPr lang="pl-PL" sz="3600" b="1" dirty="0">
                <a:effectLst/>
              </a:rPr>
              <a:t>Co użytkownicy lubią najbardziej i najmniej w </a:t>
            </a:r>
            <a:r>
              <a:rPr lang="pl-PL" sz="3600" b="1" dirty="0" err="1">
                <a:effectLst/>
              </a:rPr>
              <a:t>oprogramowaniach</a:t>
            </a:r>
            <a:r>
              <a:rPr lang="pl-PL" sz="3600" b="1" dirty="0">
                <a:effectLst/>
              </a:rPr>
              <a:t> oferowanych </a:t>
            </a:r>
            <a:r>
              <a:rPr lang="pl-PL" sz="3600" b="1" dirty="0" err="1">
                <a:effectLst/>
              </a:rPr>
              <a:t>przezkonkurencję</a:t>
            </a:r>
            <a:r>
              <a:rPr lang="pl-PL" sz="3600" b="1" dirty="0">
                <a:effectLst/>
              </a:rPr>
              <a:t>?</a:t>
            </a:r>
          </a:p>
          <a:p>
            <a:pPr marL="0" indent="0">
              <a:buNone/>
            </a:pPr>
            <a:r>
              <a:rPr lang="pl-PL" sz="2600" b="1" dirty="0">
                <a:effectLst/>
              </a:rPr>
              <a:t>Najbardziej: rywalizacja na poziomie lokalnym/narodowościowym/grupowym, czytelne i spokojne UI, intuicyjna </a:t>
            </a:r>
            <a:r>
              <a:rPr lang="pl-PL" sz="2600" b="1" dirty="0" err="1">
                <a:effectLst/>
              </a:rPr>
              <a:t>osbługa</a:t>
            </a:r>
            <a:r>
              <a:rPr lang="pl-PL" sz="2600" b="1" dirty="0">
                <a:effectLst/>
              </a:rPr>
              <a:t>, szybkość działania </a:t>
            </a:r>
          </a:p>
          <a:p>
            <a:pPr marL="0" indent="0">
              <a:buNone/>
            </a:pPr>
            <a:r>
              <a:rPr lang="pl-PL" sz="2600" b="1" dirty="0">
                <a:effectLst/>
              </a:rPr>
              <a:t>Najmniej: </a:t>
            </a:r>
            <a:r>
              <a:rPr lang="pl-PL" sz="2600" b="1" dirty="0" err="1">
                <a:effectLst/>
              </a:rPr>
              <a:t>paywalle</a:t>
            </a:r>
            <a:r>
              <a:rPr lang="pl-PL" sz="2600" b="1" dirty="0">
                <a:effectLst/>
              </a:rPr>
              <a:t> , nieczytelne UI na arenach np. w </a:t>
            </a:r>
            <a:r>
              <a:rPr lang="pl-PL" sz="2600" b="1" dirty="0" err="1">
                <a:effectLst/>
              </a:rPr>
              <a:t>kahoot</a:t>
            </a:r>
            <a:r>
              <a:rPr lang="pl-PL" sz="2600" b="1" dirty="0">
                <a:effectLst/>
              </a:rPr>
              <a:t> , wymuszanie założenia konta aby uczestniczyć w publicznych arenach</a:t>
            </a:r>
          </a:p>
          <a:p>
            <a:pPr marL="0" indent="0">
              <a:buNone/>
            </a:pPr>
            <a:r>
              <a:rPr lang="pl-PL" sz="3600" b="1" dirty="0">
                <a:effectLst/>
              </a:rPr>
              <a:t>Co przyczyniło się do sukcesu tych najpopularniejszych z nich? </a:t>
            </a:r>
          </a:p>
          <a:p>
            <a:pPr marL="0" indent="0">
              <a:buNone/>
            </a:pPr>
            <a:r>
              <a:rPr lang="pl-PL" sz="2600" b="1" dirty="0">
                <a:effectLst/>
              </a:rPr>
              <a:t>- Szybka nauka na pamięć. Dobry pomysł na marketing. Dopasowanie formy dla każdej grupy odbiorców. </a:t>
            </a:r>
          </a:p>
          <a:p>
            <a:pPr marL="0" indent="0">
              <a:buNone/>
            </a:pPr>
            <a:r>
              <a:rPr lang="pl-PL" sz="3600" b="1" dirty="0">
                <a:effectLst/>
              </a:rPr>
              <a:t>Co mogłoby skłonić Cię do rezygnacji z używania nowego oprogramowania? </a:t>
            </a:r>
          </a:p>
          <a:p>
            <a:pPr marL="0" indent="0">
              <a:buNone/>
            </a:pPr>
            <a:r>
              <a:rPr lang="pl-PL" sz="2600" b="1" dirty="0">
                <a:effectLst/>
              </a:rPr>
              <a:t>- Przywiązanie do starych rozwiązań. Opłacona subskrypcja na stronach konkurencji. </a:t>
            </a:r>
          </a:p>
          <a:p>
            <a:pPr marL="0" indent="0">
              <a:buNone/>
            </a:pPr>
            <a:r>
              <a:rPr lang="pl-PL" sz="3600" b="1" dirty="0">
                <a:effectLst/>
              </a:rPr>
              <a:t>Jakie funkcje powinny zostać zawarte w zarysie projektu? </a:t>
            </a:r>
          </a:p>
          <a:p>
            <a:pPr marL="0" indent="0">
              <a:buNone/>
            </a:pPr>
            <a:r>
              <a:rPr lang="pl-PL" sz="2600" b="1" dirty="0">
                <a:effectLst/>
              </a:rPr>
              <a:t>- Fiszki (wskazówki), quizy, areny, pytania generowane przez AI, dodawanie znajomych, personalizacja profilu użytkownika, statystyki, mnogość kategorii quizów. </a:t>
            </a:r>
          </a:p>
          <a:p>
            <a:pPr marL="0" indent="0">
              <a:buNone/>
            </a:pPr>
            <a:r>
              <a:rPr lang="pl-PL" sz="3600" b="1" dirty="0">
                <a:effectLst/>
              </a:rPr>
              <a:t>Jakie są wyznaczone priorytety funkcjonalne?</a:t>
            </a:r>
          </a:p>
          <a:p>
            <a:pPr marL="0" indent="0">
              <a:buNone/>
            </a:pPr>
            <a:r>
              <a:rPr lang="pl-PL" sz="2600" b="1" dirty="0">
                <a:effectLst/>
              </a:rPr>
              <a:t> - Fiszki (wskazówki), quizy, areny, pytania generowane przez AI</a:t>
            </a:r>
          </a:p>
          <a:p>
            <a:pPr marL="0" indent="0">
              <a:buNone/>
            </a:pPr>
            <a:r>
              <a:rPr lang="pl-PL" sz="3600" b="1" dirty="0">
                <a:effectLst/>
              </a:rPr>
              <a:t>Czy chcesz korzystać z gotowych rozwiązań lub rozpocząć działanie od podszewki?</a:t>
            </a:r>
          </a:p>
          <a:p>
            <a:pPr marL="0" indent="0">
              <a:buNone/>
            </a:pPr>
            <a:r>
              <a:rPr lang="pl-PL" sz="2600" b="1" dirty="0">
                <a:effectLst/>
              </a:rPr>
              <a:t>- Niektóre sprawdzone systemy i rozwiązania postaramy się ulepszyć o nowe funkcjonalności. Wprowadzimy także nowatorskie pomysły. </a:t>
            </a:r>
          </a:p>
          <a:p>
            <a:pPr marL="0" indent="0">
              <a:buNone/>
            </a:pPr>
            <a:r>
              <a:rPr lang="pl-PL" sz="3600" b="1" dirty="0">
                <a:effectLst/>
              </a:rPr>
              <a:t>Jakie platformy najczęściej wykorzystuje Twój potencjalny klient (iOS, Android)?</a:t>
            </a:r>
          </a:p>
          <a:p>
            <a:pPr marL="0" indent="0">
              <a:buNone/>
            </a:pPr>
            <a:r>
              <a:rPr lang="pl-PL" sz="2600" b="1" dirty="0">
                <a:effectLst/>
              </a:rPr>
              <a:t>- iOS, android, PC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585229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894498E-F1C6-AD40-19F9-72A463501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b="1" dirty="0"/>
              <a:t>Badanie rynku </a:t>
            </a:r>
            <a:br>
              <a:rPr lang="pl-PL" b="1" dirty="0"/>
            </a:br>
            <a:r>
              <a:rPr lang="pl-PL" b="1" dirty="0"/>
              <a:t> odpowiedzi studentów ( i nie tylko) z różnych środowisk 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476577F3-8026-BD0D-D150-7CA2D2658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299" y="2761085"/>
            <a:ext cx="9460226" cy="3164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593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 descr="Forms response chart. Question title: Jaki jest Twój aktualny status edukacyjno-zawodowy. Number of responses: 28 responses.">
            <a:extLst>
              <a:ext uri="{FF2B5EF4-FFF2-40B4-BE49-F238E27FC236}">
                <a16:creationId xmlns:a16="http://schemas.microsoft.com/office/drawing/2014/main" id="{23F66B66-1E5B-25AE-396C-FF5D5B9BB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723" y="0"/>
            <a:ext cx="7423944" cy="3123736"/>
          </a:xfrm>
          <a:prstGeom prst="rect">
            <a:avLst/>
          </a:prstGeom>
        </p:spPr>
      </p:pic>
      <p:pic>
        <p:nvPicPr>
          <p:cNvPr id="6" name="Obraz 5" descr="Forms response chart. Question title: Jeśli się uczysz lub studiujesz – jaki obszar najlepiej opisuje Twój profil lub kierunek?. Number of responses: 28 responses.">
            <a:extLst>
              <a:ext uri="{FF2B5EF4-FFF2-40B4-BE49-F238E27FC236}">
                <a16:creationId xmlns:a16="http://schemas.microsoft.com/office/drawing/2014/main" id="{7AC94A52-8BEC-7E71-A68E-ABFAA06D5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29713"/>
            <a:ext cx="6159500" cy="2928287"/>
          </a:xfrm>
          <a:prstGeom prst="rect">
            <a:avLst/>
          </a:prstGeom>
        </p:spPr>
      </p:pic>
      <p:pic>
        <p:nvPicPr>
          <p:cNvPr id="7" name="Obraz 6" descr="Forms response chart. Question title: W jakiej grupie wiekowej się znajdujesz?. Number of responses: 28 responses.">
            <a:extLst>
              <a:ext uri="{FF2B5EF4-FFF2-40B4-BE49-F238E27FC236}">
                <a16:creationId xmlns:a16="http://schemas.microsoft.com/office/drawing/2014/main" id="{8A65BE42-0596-2F7F-D1BA-CBCDEAECF7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9915" y="2899831"/>
            <a:ext cx="6432085" cy="2714573"/>
          </a:xfrm>
          <a:prstGeom prst="rect">
            <a:avLst/>
          </a:prstGeom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7E698979-D525-93C2-32F7-D83BD1B3F3AF}"/>
              </a:ext>
            </a:extLst>
          </p:cNvPr>
          <p:cNvSpPr txBox="1"/>
          <p:nvPr/>
        </p:nvSpPr>
        <p:spPr>
          <a:xfrm>
            <a:off x="1597439" y="3376202"/>
            <a:ext cx="4562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/>
              <a:t>BADANA GRUPA</a:t>
            </a:r>
          </a:p>
        </p:txBody>
      </p:sp>
    </p:spTree>
    <p:extLst>
      <p:ext uri="{BB962C8B-B14F-4D97-AF65-F5344CB8AC3E}">
        <p14:creationId xmlns:p14="http://schemas.microsoft.com/office/powerpoint/2010/main" val="3128794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 descr="Forms response chart. Question title: W jakim celu najczęściej korzystasz (lub korzystałbyś/korzystałabyś) z narzędzi do nauki?. Number of responses: 28 responses.">
            <a:extLst>
              <a:ext uri="{FF2B5EF4-FFF2-40B4-BE49-F238E27FC236}">
                <a16:creationId xmlns:a16="http://schemas.microsoft.com/office/drawing/2014/main" id="{39379936-6933-50D6-8027-0E85343A76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81" r="5116"/>
          <a:stretch>
            <a:fillRect/>
          </a:stretch>
        </p:blipFill>
        <p:spPr>
          <a:xfrm>
            <a:off x="-1" y="0"/>
            <a:ext cx="6619461" cy="3061252"/>
          </a:xfrm>
          <a:prstGeom prst="rect">
            <a:avLst/>
          </a:prstGeom>
        </p:spPr>
      </p:pic>
      <p:pic>
        <p:nvPicPr>
          <p:cNvPr id="3" name="Obraz 2" descr="Forms response chart. Question title: Jak często poświęcasz czas na powtórki materiału lub przyswajanie nowej wiedzy?. Number of responses: 27 responses.">
            <a:extLst>
              <a:ext uri="{FF2B5EF4-FFF2-40B4-BE49-F238E27FC236}">
                <a16:creationId xmlns:a16="http://schemas.microsoft.com/office/drawing/2014/main" id="{152D5B8F-52B4-5644-82EC-8AA540C5DB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03" r="6262"/>
          <a:stretch>
            <a:fillRect/>
          </a:stretch>
        </p:blipFill>
        <p:spPr>
          <a:xfrm>
            <a:off x="0" y="4094922"/>
            <a:ext cx="5971597" cy="2763078"/>
          </a:xfrm>
          <a:prstGeom prst="rect">
            <a:avLst/>
          </a:prstGeom>
        </p:spPr>
      </p:pic>
      <p:pic>
        <p:nvPicPr>
          <p:cNvPr id="4" name="Obraz 3" descr="Forms response chart. Question title: W jaki sposób najchętniej uczysz się do sprawdzianów, egzaminów lub testów?. Number of responses: 28 responses.">
            <a:extLst>
              <a:ext uri="{FF2B5EF4-FFF2-40B4-BE49-F238E27FC236}">
                <a16:creationId xmlns:a16="http://schemas.microsoft.com/office/drawing/2014/main" id="{6C43038A-EE73-B2FB-5D26-8C21C3EE3F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251" b="9149"/>
          <a:stretch>
            <a:fillRect/>
          </a:stretch>
        </p:blipFill>
        <p:spPr>
          <a:xfrm>
            <a:off x="5456583" y="1898374"/>
            <a:ext cx="6735417" cy="2991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270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 descr="Forms response chart. Question title: Z jakich aplikacji do tworzenia fiszek lub rozwiązywania quizów korzystasz lub korzystałeś/korzystałaś w przeszłości?. Number of responses: 28 responses.">
            <a:extLst>
              <a:ext uri="{FF2B5EF4-FFF2-40B4-BE49-F238E27FC236}">
                <a16:creationId xmlns:a16="http://schemas.microsoft.com/office/drawing/2014/main" id="{9283175C-7D31-C83E-F41F-4E5790FC9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452" y="0"/>
            <a:ext cx="7566577" cy="3845310"/>
          </a:xfrm>
          <a:prstGeom prst="rect">
            <a:avLst/>
          </a:prstGeom>
        </p:spPr>
      </p:pic>
      <p:pic>
        <p:nvPicPr>
          <p:cNvPr id="3" name="Obraz 2" descr="Forms response chart. Question title: Co najbardziej cenisz w aplikacjach edukacyjnych oferowanych obecnie na rynku?. Number of responses: 28 responses.">
            <a:extLst>
              <a:ext uri="{FF2B5EF4-FFF2-40B4-BE49-F238E27FC236}">
                <a16:creationId xmlns:a16="http://schemas.microsoft.com/office/drawing/2014/main" id="{0F7DE825-F864-1E01-33A6-615E700F7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08058"/>
            <a:ext cx="7046429" cy="3349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294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9602CA44-42EE-3117-E528-8EB2E57FB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063" y="367878"/>
            <a:ext cx="10933873" cy="875454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BCA8156E-9DCA-A2BB-B920-89E51E01E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1853" y="4329552"/>
            <a:ext cx="1907343" cy="549573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6B334038-A4DF-B087-18DC-6C3EA54FE1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604" y="1932432"/>
            <a:ext cx="3732664" cy="524424"/>
          </a:xfrm>
          <a:prstGeom prst="rect">
            <a:avLst/>
          </a:prstGeom>
        </p:spPr>
      </p:pic>
      <p:pic>
        <p:nvPicPr>
          <p:cNvPr id="13" name="Obraz 12">
            <a:extLst>
              <a:ext uri="{FF2B5EF4-FFF2-40B4-BE49-F238E27FC236}">
                <a16:creationId xmlns:a16="http://schemas.microsoft.com/office/drawing/2014/main" id="{60754396-D177-F2EC-2137-42CB9CDACBE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" b="16244"/>
          <a:stretch>
            <a:fillRect/>
          </a:stretch>
        </p:blipFill>
        <p:spPr>
          <a:xfrm>
            <a:off x="834494" y="3746768"/>
            <a:ext cx="3418935" cy="507082"/>
          </a:xfrm>
          <a:prstGeom prst="rect">
            <a:avLst/>
          </a:prstGeom>
        </p:spPr>
      </p:pic>
      <p:pic>
        <p:nvPicPr>
          <p:cNvPr id="17" name="Obraz 16">
            <a:extLst>
              <a:ext uri="{FF2B5EF4-FFF2-40B4-BE49-F238E27FC236}">
                <a16:creationId xmlns:a16="http://schemas.microsoft.com/office/drawing/2014/main" id="{A5BAD2E8-98AB-F508-5501-FF37EFCDA80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8520"/>
          <a:stretch>
            <a:fillRect/>
          </a:stretch>
        </p:blipFill>
        <p:spPr>
          <a:xfrm>
            <a:off x="8017127" y="5129558"/>
            <a:ext cx="2964104" cy="470833"/>
          </a:xfrm>
          <a:prstGeom prst="rect">
            <a:avLst/>
          </a:prstGeom>
        </p:spPr>
      </p:pic>
      <p:pic>
        <p:nvPicPr>
          <p:cNvPr id="19" name="Obraz 18">
            <a:extLst>
              <a:ext uri="{FF2B5EF4-FFF2-40B4-BE49-F238E27FC236}">
                <a16:creationId xmlns:a16="http://schemas.microsoft.com/office/drawing/2014/main" id="{6911B333-BBB7-C8FB-55D9-6BD74664E4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0178" y="2891307"/>
            <a:ext cx="8198037" cy="470833"/>
          </a:xfrm>
          <a:prstGeom prst="rect">
            <a:avLst/>
          </a:prstGeom>
        </p:spPr>
      </p:pic>
      <p:pic>
        <p:nvPicPr>
          <p:cNvPr id="21" name="Obraz 20">
            <a:extLst>
              <a:ext uri="{FF2B5EF4-FFF2-40B4-BE49-F238E27FC236}">
                <a16:creationId xmlns:a16="http://schemas.microsoft.com/office/drawing/2014/main" id="{AFDD7F91-7754-1AAA-3F22-8C6DE478BE6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1582" y="5786238"/>
            <a:ext cx="7231455" cy="50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247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 descr="Forms response chart. Question title: Co mogłoby cię skłonić do natychmiastowej rezygnacji z nowo pobranej aplikacji do nauki?. Number of responses: 28 responses.">
            <a:extLst>
              <a:ext uri="{FF2B5EF4-FFF2-40B4-BE49-F238E27FC236}">
                <a16:creationId xmlns:a16="http://schemas.microsoft.com/office/drawing/2014/main" id="{5659B2E9-F5D5-4974-2928-70E1E68B5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430" y="0"/>
            <a:ext cx="6373595" cy="3030069"/>
          </a:xfrm>
          <a:prstGeom prst="rect">
            <a:avLst/>
          </a:prstGeom>
        </p:spPr>
      </p:pic>
      <p:pic>
        <p:nvPicPr>
          <p:cNvPr id="3" name="Obraz 2" descr="Forms response chart. Question title: Oceń przydatność poniższych funkcji w nowo projektowanej aplikacji edukacyjnej:. Number of responses: .">
            <a:extLst>
              <a:ext uri="{FF2B5EF4-FFF2-40B4-BE49-F238E27FC236}">
                <a16:creationId xmlns:a16="http://schemas.microsoft.com/office/drawing/2014/main" id="{FAF2EB33-6B66-BDA4-1D44-14C24A00C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350" y="3753691"/>
            <a:ext cx="10015299" cy="3104309"/>
          </a:xfrm>
          <a:prstGeom prst="rect">
            <a:avLst/>
          </a:prstGeom>
        </p:spPr>
      </p:pic>
      <p:pic>
        <p:nvPicPr>
          <p:cNvPr id="4" name="Obraz 3" descr="Forms response chart. Question title: Czy tryb rywalizacji wieloosobowej zachęciłby cię do częstszej nauki w grupie znajomych?. Number of responses: 28 responses.">
            <a:extLst>
              <a:ext uri="{FF2B5EF4-FFF2-40B4-BE49-F238E27FC236}">
                <a16:creationId xmlns:a16="http://schemas.microsoft.com/office/drawing/2014/main" id="{9BF5559A-BD10-63C1-8195-5C7A24BC62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4649" y="1117111"/>
            <a:ext cx="6266156" cy="263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111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D8365B57-6EE3-0EE5-48E3-5D2379D47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643" y="104964"/>
            <a:ext cx="10692821" cy="808836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79AE7F9F-A1EF-D408-D048-8629D3EB7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217" y="2004501"/>
            <a:ext cx="6284583" cy="446087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96A43E9F-A427-33D5-2A62-99386ED167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3402" y="2589980"/>
            <a:ext cx="6953714" cy="446087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7085F99D-24D6-3660-B9BB-710318548A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1856" y="3767995"/>
            <a:ext cx="1889310" cy="446087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B692DF42-D4EE-875E-907D-4629BC90C4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6721" y="3805240"/>
            <a:ext cx="7555064" cy="500067"/>
          </a:xfrm>
          <a:prstGeom prst="rect">
            <a:avLst/>
          </a:prstGeom>
        </p:spPr>
      </p:pic>
      <p:pic>
        <p:nvPicPr>
          <p:cNvPr id="13" name="Obraz 12">
            <a:extLst>
              <a:ext uri="{FF2B5EF4-FFF2-40B4-BE49-F238E27FC236}">
                <a16:creationId xmlns:a16="http://schemas.microsoft.com/office/drawing/2014/main" id="{34D3DA88-2079-328E-45D8-925DDBC40A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066" y="6229866"/>
            <a:ext cx="7086973" cy="553924"/>
          </a:xfrm>
          <a:prstGeom prst="rect">
            <a:avLst/>
          </a:prstGeom>
        </p:spPr>
      </p:pic>
      <p:pic>
        <p:nvPicPr>
          <p:cNvPr id="15" name="Obraz 14">
            <a:extLst>
              <a:ext uri="{FF2B5EF4-FFF2-40B4-BE49-F238E27FC236}">
                <a16:creationId xmlns:a16="http://schemas.microsoft.com/office/drawing/2014/main" id="{B4B56112-51BE-E927-8D5D-FB98D163927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11008" y="4425530"/>
            <a:ext cx="4867599" cy="446087"/>
          </a:xfrm>
          <a:prstGeom prst="rect">
            <a:avLst/>
          </a:prstGeom>
        </p:spPr>
      </p:pic>
      <p:pic>
        <p:nvPicPr>
          <p:cNvPr id="17" name="Obraz 16">
            <a:extLst>
              <a:ext uri="{FF2B5EF4-FFF2-40B4-BE49-F238E27FC236}">
                <a16:creationId xmlns:a16="http://schemas.microsoft.com/office/drawing/2014/main" id="{9B0AA454-692C-F447-1355-9E6D46C2E96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9217" y="5013591"/>
            <a:ext cx="6457041" cy="476224"/>
          </a:xfrm>
          <a:prstGeom prst="rect">
            <a:avLst/>
          </a:prstGeom>
        </p:spPr>
      </p:pic>
      <p:pic>
        <p:nvPicPr>
          <p:cNvPr id="19" name="Obraz 18">
            <a:extLst>
              <a:ext uri="{FF2B5EF4-FFF2-40B4-BE49-F238E27FC236}">
                <a16:creationId xmlns:a16="http://schemas.microsoft.com/office/drawing/2014/main" id="{961C271F-74C0-574C-62D8-7470F7CDFDB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06890" y="5663557"/>
            <a:ext cx="6877157" cy="446086"/>
          </a:xfrm>
          <a:prstGeom prst="rect">
            <a:avLst/>
          </a:prstGeom>
        </p:spPr>
      </p:pic>
      <p:pic>
        <p:nvPicPr>
          <p:cNvPr id="21" name="Obraz 20">
            <a:extLst>
              <a:ext uri="{FF2B5EF4-FFF2-40B4-BE49-F238E27FC236}">
                <a16:creationId xmlns:a16="http://schemas.microsoft.com/office/drawing/2014/main" id="{1FDDC31F-B651-9E4F-D887-0DFFFE93E2D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98839" y="3200548"/>
            <a:ext cx="7216101" cy="446086"/>
          </a:xfrm>
          <a:prstGeom prst="rect">
            <a:avLst/>
          </a:prstGeom>
        </p:spPr>
      </p:pic>
      <p:pic>
        <p:nvPicPr>
          <p:cNvPr id="23" name="Obraz 22">
            <a:extLst>
              <a:ext uri="{FF2B5EF4-FFF2-40B4-BE49-F238E27FC236}">
                <a16:creationId xmlns:a16="http://schemas.microsoft.com/office/drawing/2014/main" id="{E74189C9-5A71-75E3-62DA-28003AD4EC3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19366" y="1326931"/>
            <a:ext cx="8264681" cy="549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286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9AE5A223-46F5-5D34-DD9F-7B80CCB94E63}"/>
              </a:ext>
            </a:extLst>
          </p:cNvPr>
          <p:cNvSpPr txBox="1"/>
          <p:nvPr/>
        </p:nvSpPr>
        <p:spPr>
          <a:xfrm>
            <a:off x="2204829" y="536712"/>
            <a:ext cx="77823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200" b="1" dirty="0"/>
              <a:t>Jak budujemy naszą aplikacje? Prototyp ewolucyjny vs do porzucenia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6B428CA0-A647-4D18-EBD0-4B42A66C3B07}"/>
              </a:ext>
            </a:extLst>
          </p:cNvPr>
          <p:cNvSpPr txBox="1"/>
          <p:nvPr/>
        </p:nvSpPr>
        <p:spPr>
          <a:xfrm>
            <a:off x="251791" y="2096843"/>
            <a:ext cx="1168841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l-PL" sz="2400" b="1" dirty="0"/>
              <a:t>Dlaczego Prototyp Ewolucyjny?</a:t>
            </a:r>
            <a:endParaRPr lang="pl-PL" sz="2400" dirty="0"/>
          </a:p>
          <a:p>
            <a:pPr lvl="0"/>
            <a:r>
              <a:rPr lang="pl-PL" sz="2400" dirty="0"/>
              <a:t>Wolimy od razu budować układ i bazę, które będą bezpośrednią podstawą dla właściwej aplikacji. Rozwijamy projekt krok po kroku, dokładając kolejne funkcje.</a:t>
            </a:r>
          </a:p>
          <a:p>
            <a:pPr lvl="0"/>
            <a:endParaRPr lang="pl-PL" sz="2400" b="1" dirty="0"/>
          </a:p>
          <a:p>
            <a:pPr lvl="0"/>
            <a:r>
              <a:rPr lang="pl-PL" sz="2400" b="1" dirty="0"/>
              <a:t>Dlaczego NIE do porzucenia?</a:t>
            </a:r>
            <a:endParaRPr lang="pl-PL" sz="2400" dirty="0"/>
          </a:p>
          <a:p>
            <a:pPr lvl="0"/>
            <a:r>
              <a:rPr lang="pl-PL" sz="2400" dirty="0"/>
              <a:t>Nie robimy kodu „na chwilę”, żeby go później całkowicie zmienić. Znamy już potrzeby użytkowników oraz to co sami chcielibyśmy mieć w projekcie więc pisanie czegoś od nowa byłoby stratą czasu.</a:t>
            </a:r>
          </a:p>
        </p:txBody>
      </p:sp>
    </p:spTree>
    <p:extLst>
      <p:ext uri="{BB962C8B-B14F-4D97-AF65-F5344CB8AC3E}">
        <p14:creationId xmlns:p14="http://schemas.microsoft.com/office/powerpoint/2010/main" val="2423982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ymbol zastępczy zawartości 6">
            <a:extLst>
              <a:ext uri="{FF2B5EF4-FFF2-40B4-BE49-F238E27FC236}">
                <a16:creationId xmlns:a16="http://schemas.microsoft.com/office/drawing/2014/main" id="{C01FEC2F-A1B5-99C4-7894-2FBB5017BF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80379" b="62327"/>
          <a:stretch>
            <a:fillRect/>
          </a:stretch>
        </p:blipFill>
        <p:spPr>
          <a:xfrm>
            <a:off x="146394" y="1052228"/>
            <a:ext cx="5029109" cy="5519608"/>
          </a:xfrm>
          <a:prstGeom prst="rect">
            <a:avLst/>
          </a:prstGeom>
        </p:spPr>
      </p:pic>
      <p:pic>
        <p:nvPicPr>
          <p:cNvPr id="13" name="Obraz 12">
            <a:extLst>
              <a:ext uri="{FF2B5EF4-FFF2-40B4-BE49-F238E27FC236}">
                <a16:creationId xmlns:a16="http://schemas.microsoft.com/office/drawing/2014/main" id="{453DF40A-AE1D-C1BB-64F7-DE571D44F2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301" r="73602" b="75202"/>
          <a:stretch>
            <a:fillRect/>
          </a:stretch>
        </p:blipFill>
        <p:spPr>
          <a:xfrm>
            <a:off x="9630217" y="1274823"/>
            <a:ext cx="2364926" cy="5074417"/>
          </a:xfrm>
          <a:prstGeom prst="rect">
            <a:avLst/>
          </a:prstGeom>
        </p:spPr>
      </p:pic>
      <p:pic>
        <p:nvPicPr>
          <p:cNvPr id="15" name="Obraz 14">
            <a:extLst>
              <a:ext uri="{FF2B5EF4-FFF2-40B4-BE49-F238E27FC236}">
                <a16:creationId xmlns:a16="http://schemas.microsoft.com/office/drawing/2014/main" id="{D8D76D96-823F-4CC7-27EA-E933905955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681" t="58933" r="74364" b="4933"/>
          <a:stretch>
            <a:fillRect/>
          </a:stretch>
        </p:blipFill>
        <p:spPr>
          <a:xfrm>
            <a:off x="7606997" y="1111247"/>
            <a:ext cx="1956652" cy="5460589"/>
          </a:xfrm>
          <a:prstGeom prst="rect">
            <a:avLst/>
          </a:prstGeom>
        </p:spPr>
      </p:pic>
      <p:sp>
        <p:nvSpPr>
          <p:cNvPr id="16" name="pole tekstowe 15">
            <a:extLst>
              <a:ext uri="{FF2B5EF4-FFF2-40B4-BE49-F238E27FC236}">
                <a16:creationId xmlns:a16="http://schemas.microsoft.com/office/drawing/2014/main" id="{7DCC9F78-BF0C-FEF2-439A-82B6F80D281A}"/>
              </a:ext>
            </a:extLst>
          </p:cNvPr>
          <p:cNvSpPr txBox="1"/>
          <p:nvPr/>
        </p:nvSpPr>
        <p:spPr>
          <a:xfrm>
            <a:off x="5175503" y="2456546"/>
            <a:ext cx="22200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800" b="1" dirty="0"/>
              <a:t>WIDOK STRONY GŁOWNEJ</a:t>
            </a:r>
          </a:p>
        </p:txBody>
      </p:sp>
    </p:spTree>
    <p:extLst>
      <p:ext uri="{BB962C8B-B14F-4D97-AF65-F5344CB8AC3E}">
        <p14:creationId xmlns:p14="http://schemas.microsoft.com/office/powerpoint/2010/main" val="4161127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B84FBAEE-00F7-374F-8719-94CB32DE09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811" t="36800" r="80080" b="30933"/>
          <a:stretch>
            <a:fillRect/>
          </a:stretch>
        </p:blipFill>
        <p:spPr>
          <a:xfrm>
            <a:off x="244516" y="1313639"/>
            <a:ext cx="5415619" cy="5544361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329E8D89-2FB3-8760-8986-A9593ACBBF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133" r="80386"/>
          <a:stretch>
            <a:fillRect/>
          </a:stretch>
        </p:blipFill>
        <p:spPr>
          <a:xfrm>
            <a:off x="6635217" y="1594542"/>
            <a:ext cx="5311708" cy="4623378"/>
          </a:xfrm>
          <a:prstGeom prst="rect">
            <a:avLst/>
          </a:prstGeom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253B68C1-DBC8-5687-983E-A438871939EB}"/>
              </a:ext>
            </a:extLst>
          </p:cNvPr>
          <p:cNvSpPr txBox="1"/>
          <p:nvPr/>
        </p:nvSpPr>
        <p:spPr>
          <a:xfrm>
            <a:off x="2926080" y="320040"/>
            <a:ext cx="61539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b="1" dirty="0"/>
              <a:t>PANEL LOGOWANIA/ REJESTRACJI</a:t>
            </a:r>
          </a:p>
        </p:txBody>
      </p:sp>
    </p:spTree>
    <p:extLst>
      <p:ext uri="{BB962C8B-B14F-4D97-AF65-F5344CB8AC3E}">
        <p14:creationId xmlns:p14="http://schemas.microsoft.com/office/powerpoint/2010/main" val="1249543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4A6E159F-07DC-4135-D64A-BBB4CA3A1E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703" r="55220" b="15600"/>
          <a:stretch>
            <a:fillRect/>
          </a:stretch>
        </p:blipFill>
        <p:spPr>
          <a:xfrm>
            <a:off x="0" y="123201"/>
            <a:ext cx="4902834" cy="11801591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827A5F77-840D-76CB-D09D-223170DA6C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519" r="48835" b="68889"/>
          <a:stretch>
            <a:fillRect/>
          </a:stretch>
        </p:blipFill>
        <p:spPr>
          <a:xfrm>
            <a:off x="7481370" y="405384"/>
            <a:ext cx="1931022" cy="6082937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810E0B4C-513A-E88D-F21B-D735D43119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529" t="44800" r="49441" b="26133"/>
          <a:stretch>
            <a:fillRect/>
          </a:stretch>
        </p:blipFill>
        <p:spPr>
          <a:xfrm>
            <a:off x="9684326" y="405384"/>
            <a:ext cx="1896676" cy="6264778"/>
          </a:xfrm>
          <a:prstGeom prst="rect">
            <a:avLst/>
          </a:prstGeom>
        </p:spPr>
      </p:pic>
      <p:sp>
        <p:nvSpPr>
          <p:cNvPr id="10" name="pole tekstowe 9">
            <a:extLst>
              <a:ext uri="{FF2B5EF4-FFF2-40B4-BE49-F238E27FC236}">
                <a16:creationId xmlns:a16="http://schemas.microsoft.com/office/drawing/2014/main" id="{B8F3C66D-4A41-72CE-DCC2-406E7BA22916}"/>
              </a:ext>
            </a:extLst>
          </p:cNvPr>
          <p:cNvSpPr txBox="1"/>
          <p:nvPr/>
        </p:nvSpPr>
        <p:spPr>
          <a:xfrm>
            <a:off x="4663440" y="1892808"/>
            <a:ext cx="30540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800" b="1" dirty="0"/>
              <a:t>WIDOK TWORZENIA FISZEK/PYTAŃ </a:t>
            </a:r>
          </a:p>
        </p:txBody>
      </p:sp>
    </p:spTree>
    <p:extLst>
      <p:ext uri="{BB962C8B-B14F-4D97-AF65-F5344CB8AC3E}">
        <p14:creationId xmlns:p14="http://schemas.microsoft.com/office/powerpoint/2010/main" val="4711140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15597CB2-3E55-89B7-E1F7-07CAFF65E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288" y="2180207"/>
            <a:ext cx="5825546" cy="3926007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79029933-C841-4616-B032-07C53EFEA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4795" y="1092819"/>
            <a:ext cx="2253361" cy="5013395"/>
          </a:xfrm>
          <a:prstGeom prst="rect">
            <a:avLst/>
          </a:prstGeom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E3599877-871D-E766-BB94-31AD569BB045}"/>
              </a:ext>
            </a:extLst>
          </p:cNvPr>
          <p:cNvSpPr txBox="1"/>
          <p:nvPr/>
        </p:nvSpPr>
        <p:spPr>
          <a:xfrm>
            <a:off x="2943922" y="1092819"/>
            <a:ext cx="47615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b="1" dirty="0"/>
              <a:t>WIDOK NAUKI Z FISZEK</a:t>
            </a:r>
          </a:p>
        </p:txBody>
      </p:sp>
    </p:spTree>
    <p:extLst>
      <p:ext uri="{BB962C8B-B14F-4D97-AF65-F5344CB8AC3E}">
        <p14:creationId xmlns:p14="http://schemas.microsoft.com/office/powerpoint/2010/main" val="42166832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E3C04E58-2DB5-7DB3-DFA0-1D9C1DFA2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05" y="596712"/>
            <a:ext cx="5226100" cy="5770633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8F4A93EE-E296-243D-AF29-F321F8CEE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894" y="104311"/>
            <a:ext cx="2210108" cy="6649378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BCBE8CA5-150E-AE74-7655-1A8B75138B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6638" y="0"/>
            <a:ext cx="1530000" cy="6858000"/>
          </a:xfrm>
          <a:prstGeom prst="rect">
            <a:avLst/>
          </a:prstGeom>
        </p:spPr>
      </p:pic>
      <p:sp>
        <p:nvSpPr>
          <p:cNvPr id="13" name="pole tekstowe 12">
            <a:extLst>
              <a:ext uri="{FF2B5EF4-FFF2-40B4-BE49-F238E27FC236}">
                <a16:creationId xmlns:a16="http://schemas.microsoft.com/office/drawing/2014/main" id="{0F881C62-346C-A2A3-FB0F-837B38D42E68}"/>
              </a:ext>
            </a:extLst>
          </p:cNvPr>
          <p:cNvSpPr txBox="1"/>
          <p:nvPr/>
        </p:nvSpPr>
        <p:spPr>
          <a:xfrm>
            <a:off x="5548541" y="2364058"/>
            <a:ext cx="233335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b="1" dirty="0"/>
              <a:t>WIDOK ŁĄCZENIA SIĘ Z ARENĄ</a:t>
            </a:r>
          </a:p>
        </p:txBody>
      </p:sp>
    </p:spTree>
    <p:extLst>
      <p:ext uri="{BB962C8B-B14F-4D97-AF65-F5344CB8AC3E}">
        <p14:creationId xmlns:p14="http://schemas.microsoft.com/office/powerpoint/2010/main" val="42106481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407234CE-03B6-5E0D-780E-6EF1A2AA8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621" y="2418764"/>
            <a:ext cx="5982535" cy="4115374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12FCD119-6968-E3F2-A432-4564C146F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6460" y="323861"/>
            <a:ext cx="2464616" cy="6210277"/>
          </a:xfrm>
          <a:prstGeom prst="rect">
            <a:avLst/>
          </a:prstGeom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8876125A-4349-0FAB-1285-6040A9C73FA8}"/>
              </a:ext>
            </a:extLst>
          </p:cNvPr>
          <p:cNvSpPr txBox="1"/>
          <p:nvPr/>
        </p:nvSpPr>
        <p:spPr>
          <a:xfrm>
            <a:off x="3095374" y="1199484"/>
            <a:ext cx="65058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b="1" dirty="0"/>
              <a:t>WIDOK GRY NA ŻYWO</a:t>
            </a:r>
          </a:p>
        </p:txBody>
      </p:sp>
    </p:spTree>
    <p:extLst>
      <p:ext uri="{BB962C8B-B14F-4D97-AF65-F5344CB8AC3E}">
        <p14:creationId xmlns:p14="http://schemas.microsoft.com/office/powerpoint/2010/main" val="1226375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Grayscale pencilSize="46"/>
                    </a14:imgEffect>
                    <a14:imgEffect>
                      <a14:sharpenSoften amount="-29000"/>
                    </a14:imgEffect>
                    <a14:imgEffect>
                      <a14:brightnessContrast bright="-44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AA41965-7F00-DAC9-28D2-1F7B79091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880872"/>
          </a:xfrm>
        </p:spPr>
        <p:txBody>
          <a:bodyPr>
            <a:normAutofit/>
          </a:bodyPr>
          <a:lstStyle/>
          <a:p>
            <a:pPr algn="ctr"/>
            <a:r>
              <a:rPr lang="pl-PL" sz="4000" b="1" dirty="0"/>
              <a:t>Historie UŻYTKOWNIKA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67E001F-EEB0-C67F-0EF0-80C0C8E44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853" y="813816"/>
            <a:ext cx="12102147" cy="62270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pl-PL" sz="2400" b="1" dirty="0">
                <a:effectLst/>
              </a:rPr>
              <a:t>User Story 1 – </a:t>
            </a:r>
            <a:r>
              <a:rPr lang="pl-PL" sz="2400" dirty="0">
                <a:effectLst/>
              </a:rPr>
              <a:t>Tworzenie i edycja talii fiszek:</a:t>
            </a:r>
          </a:p>
          <a:p>
            <a:pPr marL="0" lvl="0" indent="0">
              <a:buNone/>
            </a:pPr>
            <a:r>
              <a:rPr lang="pl-PL" sz="2200" dirty="0">
                <a:effectLst/>
              </a:rPr>
              <a:t>Jako</a:t>
            </a:r>
            <a:r>
              <a:rPr lang="pl-PL" sz="1900" dirty="0">
                <a:effectLst/>
              </a:rPr>
              <a:t> Zalogowany Użytkownik, </a:t>
            </a:r>
            <a:r>
              <a:rPr lang="pl-PL" sz="2200" dirty="0">
                <a:effectLst/>
              </a:rPr>
              <a:t>chcę</a:t>
            </a:r>
            <a:r>
              <a:rPr lang="pl-PL" sz="1900" dirty="0">
                <a:effectLst/>
              </a:rPr>
              <a:t> utworzyć nową talię fiszek oraz dodać do niej pytania z opcjonalnymi wskazówkami, </a:t>
            </a:r>
            <a:r>
              <a:rPr lang="pl-PL" sz="2200" dirty="0">
                <a:effectLst/>
              </a:rPr>
              <a:t>aby</a:t>
            </a:r>
            <a:r>
              <a:rPr lang="pl-PL" sz="1900" dirty="0">
                <a:effectLst/>
              </a:rPr>
              <a:t> sprawnie zorganizować własne materiały do nauki i powtórek. </a:t>
            </a:r>
          </a:p>
          <a:p>
            <a:pPr marL="0" lvl="0" indent="0">
              <a:buNone/>
            </a:pPr>
            <a:r>
              <a:rPr lang="pl-PL" sz="1600" b="1" dirty="0">
                <a:effectLst/>
              </a:rPr>
              <a:t>Kryteria INVEST:</a:t>
            </a:r>
            <a:endParaRPr lang="pl-PL" sz="1600" dirty="0">
              <a:effectLst/>
            </a:endParaRPr>
          </a:p>
          <a:p>
            <a:pPr marL="0" lvl="0" indent="0">
              <a:buNone/>
            </a:pPr>
            <a:r>
              <a:rPr lang="pl-PL" sz="1600" dirty="0"/>
              <a:t>I (Independent): Tworzenie talii działa w pełni niezależnie od modułu Areny wieloosobowej czy przeglądania rankingu.</a:t>
            </a:r>
          </a:p>
          <a:p>
            <a:pPr marL="0" lvl="0" indent="0">
              <a:buNone/>
            </a:pPr>
            <a:r>
              <a:rPr lang="pl-PL" sz="1600" dirty="0"/>
              <a:t>N (</a:t>
            </a:r>
            <a:r>
              <a:rPr lang="pl-PL" sz="1600" dirty="0" err="1"/>
              <a:t>Negotiable</a:t>
            </a:r>
            <a:r>
              <a:rPr lang="pl-PL" sz="1600" dirty="0"/>
              <a:t>): Szczegóły formularza (np. limit znaków w podpowiedzi czy układ pól) mogą ulec zmianie w trakcie ustaleń z zespołem.</a:t>
            </a:r>
          </a:p>
          <a:p>
            <a:pPr marL="0" lvl="0" indent="0">
              <a:buNone/>
            </a:pPr>
            <a:r>
              <a:rPr lang="pl-PL" sz="1600" dirty="0"/>
              <a:t>V (</a:t>
            </a:r>
            <a:r>
              <a:rPr lang="pl-PL" sz="1600" dirty="0" err="1"/>
              <a:t>Valuable</a:t>
            </a:r>
            <a:r>
              <a:rPr lang="pl-PL" sz="1600" dirty="0"/>
              <a:t>): Daje bezpośrednią wartość użytkownikowi, umożliwiając mu tworzenie spersonalizowanych pomocy naukowych.</a:t>
            </a:r>
          </a:p>
          <a:p>
            <a:pPr marL="0" lvl="0" indent="0">
              <a:buNone/>
            </a:pPr>
            <a:r>
              <a:rPr lang="pl-PL" sz="1600" dirty="0"/>
              <a:t>E (</a:t>
            </a:r>
            <a:r>
              <a:rPr lang="pl-PL" sz="1600" dirty="0" err="1"/>
              <a:t>Estimable</a:t>
            </a:r>
            <a:r>
              <a:rPr lang="pl-PL" sz="1600" dirty="0"/>
              <a:t>): Wymagania dotyczące pól i zapisu talii są jasne, co pozwala zespołowi łatwo wycenić czas potrzebny na stworzenie</a:t>
            </a:r>
          </a:p>
          <a:p>
            <a:pPr marL="0" lvl="0" indent="0">
              <a:buNone/>
            </a:pPr>
            <a:r>
              <a:rPr lang="pl-PL" sz="1600" dirty="0"/>
              <a:t>S (Small): Zakres obejmuje wyłącznie stworzenie i zapisanie talii z kartami.</a:t>
            </a:r>
          </a:p>
          <a:p>
            <a:pPr marL="0" lvl="0" indent="0">
              <a:buNone/>
            </a:pPr>
            <a:r>
              <a:rPr lang="pl-PL" sz="1600" dirty="0"/>
              <a:t>T (</a:t>
            </a:r>
            <a:r>
              <a:rPr lang="pl-PL" sz="1600" dirty="0" err="1"/>
              <a:t>Testable</a:t>
            </a:r>
            <a:r>
              <a:rPr lang="pl-PL" sz="1600" dirty="0"/>
              <a:t>): Można jednoznacznie zweryfikować testem, czy po wypełnieniu formularza i kliknięciu „Zapisz” nowa talia pojawia się na liście zestawów. </a:t>
            </a:r>
          </a:p>
          <a:p>
            <a:pPr marL="0" lvl="0" indent="0">
              <a:buNone/>
            </a:pPr>
            <a:r>
              <a:rPr lang="pl-PL" sz="1600" b="1" dirty="0">
                <a:effectLst/>
              </a:rPr>
              <a:t>Kryteria Akceptacji (</a:t>
            </a:r>
            <a:r>
              <a:rPr lang="pl-PL" sz="1600" b="1" dirty="0" err="1">
                <a:effectLst/>
              </a:rPr>
              <a:t>Given</a:t>
            </a:r>
            <a:r>
              <a:rPr lang="pl-PL" sz="1600" b="1" dirty="0">
                <a:effectLst/>
              </a:rPr>
              <a:t>-</a:t>
            </a:r>
            <a:r>
              <a:rPr lang="pl-PL" sz="1600" b="1" dirty="0" err="1">
                <a:effectLst/>
              </a:rPr>
              <a:t>When</a:t>
            </a:r>
            <a:r>
              <a:rPr lang="pl-PL" sz="1600" b="1" dirty="0">
                <a:effectLst/>
              </a:rPr>
              <a:t>-Then):</a:t>
            </a:r>
          </a:p>
          <a:p>
            <a:pPr marL="0" lvl="0" indent="0">
              <a:buNone/>
            </a:pPr>
            <a:r>
              <a:rPr lang="pl-PL" sz="1400" dirty="0" err="1">
                <a:effectLst/>
              </a:rPr>
              <a:t>Given</a:t>
            </a:r>
            <a:r>
              <a:rPr lang="pl-PL" sz="1400" dirty="0">
                <a:effectLst/>
              </a:rPr>
              <a:t>: Użytkownik jest zalogowany i znajduje się w widoku edytora talii, </a:t>
            </a:r>
          </a:p>
          <a:p>
            <a:pPr marL="0" lvl="0" indent="0">
              <a:buNone/>
            </a:pPr>
            <a:r>
              <a:rPr lang="pl-PL" sz="1400" dirty="0" err="1">
                <a:effectLst/>
              </a:rPr>
              <a:t>When</a:t>
            </a:r>
            <a:r>
              <a:rPr lang="pl-PL" sz="1400" dirty="0">
                <a:effectLst/>
              </a:rPr>
              <a:t>: Wprowadzi nazwę talii, treść awersu, rewersu oraz opcjonalną podpowiedź i kliknie „Zapisz talię”, </a:t>
            </a:r>
          </a:p>
          <a:p>
            <a:pPr marL="0" lvl="0" indent="0">
              <a:buNone/>
            </a:pPr>
            <a:r>
              <a:rPr lang="pl-PL" sz="1400" dirty="0">
                <a:effectLst/>
              </a:rPr>
              <a:t>Then: System waliduje dane, zapisuje nową talię w bazie danych i wyświetla komunikat o sukcesie.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2005467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Grayscale pencilSize="46"/>
                    </a14:imgEffect>
                    <a14:imgEffect>
                      <a14:sharpenSoften amount="-29000"/>
                    </a14:imgEffect>
                    <a14:imgEffect>
                      <a14:brightnessContrast bright="-44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E298D2AD-8855-B52E-8250-901B05AA7A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8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348" y="274982"/>
            <a:ext cx="9554852" cy="609185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</p:spTree>
    <p:extLst>
      <p:ext uri="{BB962C8B-B14F-4D97-AF65-F5344CB8AC3E}">
        <p14:creationId xmlns:p14="http://schemas.microsoft.com/office/powerpoint/2010/main" val="8176972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8AFCAD7-51A0-0762-D9E7-27EC1F4F7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47870"/>
            <a:ext cx="12192000" cy="6301408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pl-PL" sz="2400" b="1" dirty="0">
                <a:effectLst/>
              </a:rPr>
              <a:t>User Story 2 - </a:t>
            </a:r>
            <a:r>
              <a:rPr lang="pl-PL" sz="2400" dirty="0">
                <a:effectLst/>
              </a:rPr>
              <a:t>Nauka z fiszek:</a:t>
            </a:r>
          </a:p>
          <a:p>
            <a:pPr marL="0" lvl="0" indent="0">
              <a:buNone/>
            </a:pPr>
            <a:r>
              <a:rPr lang="pl-PL" dirty="0">
                <a:effectLst/>
              </a:rPr>
              <a:t>Jako Użytkownik (Zalogowany lub Gość), chcę przeglądać fiszki z animacją obrotu kartek i oceniać swoją wiedzę przyciskami "Umiem" / "Powtórz", aby efektywnie utrwalać pojęcia bez rozpraszających elementów. </a:t>
            </a:r>
          </a:p>
          <a:p>
            <a:pPr marL="0" lvl="0" indent="0">
              <a:buNone/>
            </a:pPr>
            <a:r>
              <a:rPr lang="pl-PL" sz="1700" b="1" dirty="0">
                <a:effectLst/>
              </a:rPr>
              <a:t>Kryteria INVEST:</a:t>
            </a:r>
          </a:p>
          <a:p>
            <a:r>
              <a:rPr lang="pl-PL" sz="1700" dirty="0">
                <a:effectLst/>
              </a:rPr>
              <a:t>I (Independent): Tryb nauki z fiszek działa niezależnie od tego, czy użytkownik jest zalogowany, czy gra w trybie rywalizacji. </a:t>
            </a:r>
          </a:p>
          <a:p>
            <a:r>
              <a:rPr lang="pl-PL" sz="1700" dirty="0">
                <a:effectLst/>
              </a:rPr>
              <a:t>N (</a:t>
            </a:r>
            <a:r>
              <a:rPr lang="pl-PL" sz="1700" dirty="0" err="1">
                <a:effectLst/>
              </a:rPr>
              <a:t>Negotiable</a:t>
            </a:r>
            <a:r>
              <a:rPr lang="pl-PL" sz="1700" dirty="0">
                <a:effectLst/>
              </a:rPr>
              <a:t>): Typ skrótów klawiszowych (spacja/strzałki) czy styl animacji 3D można negocjować na etapie UX. </a:t>
            </a:r>
          </a:p>
          <a:p>
            <a:r>
              <a:rPr lang="pl-PL" sz="1700" dirty="0">
                <a:effectLst/>
              </a:rPr>
              <a:t>V (</a:t>
            </a:r>
            <a:r>
              <a:rPr lang="pl-PL" sz="1700" dirty="0" err="1">
                <a:effectLst/>
              </a:rPr>
              <a:t>Valuable</a:t>
            </a:r>
            <a:r>
              <a:rPr lang="pl-PL" sz="1700" dirty="0">
                <a:effectLst/>
              </a:rPr>
              <a:t>): Dostarcza szybką, bezstresową metodę </a:t>
            </a:r>
            <a:r>
              <a:rPr lang="pl-PL" sz="1700" dirty="0" err="1">
                <a:effectLst/>
              </a:rPr>
              <a:t>samosprawdzania</a:t>
            </a:r>
            <a:r>
              <a:rPr lang="pl-PL" sz="1700" dirty="0">
                <a:effectLst/>
              </a:rPr>
              <a:t> wiedzy bez rozpraszaczy. </a:t>
            </a:r>
          </a:p>
          <a:p>
            <a:r>
              <a:rPr lang="pl-PL" sz="1700" dirty="0">
                <a:effectLst/>
              </a:rPr>
              <a:t>E (</a:t>
            </a:r>
            <a:r>
              <a:rPr lang="pl-PL" sz="1700" dirty="0" err="1">
                <a:effectLst/>
              </a:rPr>
              <a:t>Estimable</a:t>
            </a:r>
            <a:r>
              <a:rPr lang="pl-PL" sz="1700" dirty="0">
                <a:effectLst/>
              </a:rPr>
              <a:t>): </a:t>
            </a:r>
            <a:r>
              <a:rPr lang="pl-PL" sz="1700" dirty="0"/>
              <a:t>Mechanizm obracania fiszki i przechodzenia do kolejnego pytania jest prosty, co pozwala zespołowi łatwo oszacować czas wykonania. </a:t>
            </a:r>
            <a:endParaRPr lang="pl-PL" sz="1700" dirty="0">
              <a:effectLst/>
            </a:endParaRPr>
          </a:p>
          <a:p>
            <a:r>
              <a:rPr lang="pl-PL" sz="1700" dirty="0">
                <a:effectLst/>
              </a:rPr>
              <a:t>S (Small): Ogranicza się do jednego interaktywnego widoku odtwarzacza fiszek. </a:t>
            </a:r>
          </a:p>
          <a:p>
            <a:r>
              <a:rPr lang="pl-PL" sz="1700" dirty="0">
                <a:effectLst/>
              </a:rPr>
              <a:t>T (</a:t>
            </a:r>
            <a:r>
              <a:rPr lang="pl-PL" sz="1700" dirty="0" err="1">
                <a:effectLst/>
              </a:rPr>
              <a:t>Testable</a:t>
            </a:r>
            <a:r>
              <a:rPr lang="pl-PL" sz="1700" dirty="0">
                <a:effectLst/>
              </a:rPr>
              <a:t>): Można przetestować, czy obrót karty oraz zmiana licznika postępu wykonują się prawidłowo po kliknięciu. </a:t>
            </a:r>
          </a:p>
          <a:p>
            <a:pPr marL="0" lvl="0" indent="0">
              <a:buNone/>
            </a:pPr>
            <a:r>
              <a:rPr lang="pl-PL" sz="1700" b="1" dirty="0">
                <a:effectLst/>
              </a:rPr>
              <a:t>Kryteria Akceptacji (</a:t>
            </a:r>
            <a:r>
              <a:rPr lang="pl-PL" sz="1700" b="1" dirty="0" err="1">
                <a:effectLst/>
              </a:rPr>
              <a:t>Given</a:t>
            </a:r>
            <a:r>
              <a:rPr lang="pl-PL" sz="1700" b="1" dirty="0">
                <a:effectLst/>
              </a:rPr>
              <a:t>-</a:t>
            </a:r>
            <a:r>
              <a:rPr lang="pl-PL" sz="1700" b="1" dirty="0" err="1">
                <a:effectLst/>
              </a:rPr>
              <a:t>When</a:t>
            </a:r>
            <a:r>
              <a:rPr lang="pl-PL" sz="1700" b="1" dirty="0">
                <a:effectLst/>
              </a:rPr>
              <a:t>-Then):</a:t>
            </a:r>
          </a:p>
          <a:p>
            <a:r>
              <a:rPr lang="pl-PL" sz="1700" dirty="0" err="1">
                <a:effectLst/>
              </a:rPr>
              <a:t>Given</a:t>
            </a:r>
            <a:r>
              <a:rPr lang="pl-PL" sz="1700" dirty="0">
                <a:effectLst/>
              </a:rPr>
              <a:t>: Wybrana talia zawiera co najmniej jedną fiszkę i jest dostępna publicznie, </a:t>
            </a:r>
          </a:p>
          <a:p>
            <a:r>
              <a:rPr lang="pl-PL" sz="1700" dirty="0" err="1">
                <a:effectLst/>
              </a:rPr>
              <a:t>When</a:t>
            </a:r>
            <a:r>
              <a:rPr lang="pl-PL" sz="1700" dirty="0">
                <a:effectLst/>
              </a:rPr>
              <a:t>: Użytkownik naciśnie spację lub kliknie na obszar fiszki, </a:t>
            </a:r>
          </a:p>
          <a:p>
            <a:r>
              <a:rPr lang="pl-PL" sz="1700" dirty="0">
                <a:effectLst/>
              </a:rPr>
              <a:t>Then: System wykonuje animację obrotu kartek 3D, odsłania rewers i udostępnia opcje oceny znajomości pojęcia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2728002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C87BDC3B-5366-4F21-7CFC-C55CCF8BCF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337" y="250310"/>
            <a:ext cx="9971325" cy="635738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</p:spTree>
    <p:extLst>
      <p:ext uri="{BB962C8B-B14F-4D97-AF65-F5344CB8AC3E}">
        <p14:creationId xmlns:p14="http://schemas.microsoft.com/office/powerpoint/2010/main" val="24117884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0FA984C-FC32-325E-0878-438F8C0EC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390" y="318052"/>
            <a:ext cx="11996531" cy="65399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400" b="1" dirty="0">
                <a:effectLst/>
              </a:rPr>
              <a:t>User Story 3 - </a:t>
            </a:r>
            <a:r>
              <a:rPr lang="pl-PL" sz="2400" dirty="0">
                <a:effectLst/>
              </a:rPr>
              <a:t>Generowanie Areny</a:t>
            </a:r>
          </a:p>
          <a:p>
            <a:pPr marL="0" lvl="0" indent="0">
              <a:buNone/>
            </a:pPr>
            <a:r>
              <a:rPr lang="pl-PL" dirty="0">
                <a:effectLst/>
              </a:rPr>
              <a:t>Jako Host / Prowadzący, chcę wygenerować pokój Areny na podstawie wybranego zestawu pytań i otrzymać unikalny kod PIN oraz QR,  aby w łatwy sposób zaprosić grupę graczy do wspólnej rywalizacji. </a:t>
            </a:r>
          </a:p>
          <a:p>
            <a:pPr marL="0" lvl="0" indent="0">
              <a:buNone/>
            </a:pPr>
            <a:r>
              <a:rPr lang="pl-PL" sz="1800" b="1" dirty="0">
                <a:effectLst/>
              </a:rPr>
              <a:t>Kryteria INVEST:</a:t>
            </a:r>
            <a:endParaRPr lang="pl-PL" sz="1800" dirty="0">
              <a:effectLst/>
            </a:endParaRPr>
          </a:p>
          <a:p>
            <a:r>
              <a:rPr lang="pl-PL" sz="1800" dirty="0">
                <a:effectLst/>
              </a:rPr>
              <a:t>I (Independent): Tworzenie pokoju jest odseparowane od procesu rozwiązywania pytań i dołączania graczy. </a:t>
            </a:r>
          </a:p>
          <a:p>
            <a:r>
              <a:rPr lang="pl-PL" sz="1800" dirty="0">
                <a:effectLst/>
              </a:rPr>
              <a:t>N (</a:t>
            </a:r>
            <a:r>
              <a:rPr lang="pl-PL" sz="1800" dirty="0" err="1">
                <a:effectLst/>
              </a:rPr>
              <a:t>Negotiable</a:t>
            </a:r>
            <a:r>
              <a:rPr lang="pl-PL" sz="1800" dirty="0">
                <a:effectLst/>
              </a:rPr>
              <a:t>): Sposób wyświetlania kodu QR oraz czas ważności PIN-u pozostają otwarte do ustaleń. </a:t>
            </a:r>
          </a:p>
          <a:p>
            <a:r>
              <a:rPr lang="pl-PL" sz="1800" dirty="0">
                <a:effectLst/>
              </a:rPr>
              <a:t>V (</a:t>
            </a:r>
            <a:r>
              <a:rPr lang="pl-PL" sz="1800" dirty="0" err="1">
                <a:effectLst/>
              </a:rPr>
              <a:t>Valuable</a:t>
            </a:r>
            <a:r>
              <a:rPr lang="pl-PL" sz="1800" dirty="0">
                <a:effectLst/>
              </a:rPr>
              <a:t>): Kluczowa wartość - umożliwia organizację interaktywnych quizów dla grup/klas. </a:t>
            </a:r>
          </a:p>
          <a:p>
            <a:r>
              <a:rPr lang="pl-PL" sz="1800" dirty="0">
                <a:effectLst/>
              </a:rPr>
              <a:t>E (</a:t>
            </a:r>
            <a:r>
              <a:rPr lang="pl-PL" sz="1800" dirty="0" err="1">
                <a:effectLst/>
              </a:rPr>
              <a:t>Estimable</a:t>
            </a:r>
            <a:r>
              <a:rPr lang="pl-PL" sz="1800" dirty="0">
                <a:effectLst/>
              </a:rPr>
              <a:t>): </a:t>
            </a:r>
            <a:r>
              <a:rPr lang="pl-PL" sz="1800" dirty="0"/>
              <a:t>Mechanizm generowania unikalnego PIN-u i tworzenia poczekalni jest prosty, co pozwala zespołowi łatwo oszacować czas realizacji.</a:t>
            </a:r>
          </a:p>
          <a:p>
            <a:r>
              <a:rPr lang="pl-PL" sz="1800" dirty="0">
                <a:effectLst/>
              </a:rPr>
              <a:t>S (Small): Zadanie skupia się wyłącznie na zainicjowaniu sesji gry i otwarciu poczekalni. </a:t>
            </a:r>
          </a:p>
          <a:p>
            <a:r>
              <a:rPr lang="pl-PL" sz="1800" dirty="0">
                <a:effectLst/>
              </a:rPr>
              <a:t>T (</a:t>
            </a:r>
            <a:r>
              <a:rPr lang="pl-PL" sz="1800" dirty="0" err="1">
                <a:effectLst/>
              </a:rPr>
              <a:t>Testable</a:t>
            </a:r>
            <a:r>
              <a:rPr lang="pl-PL" sz="1800" dirty="0">
                <a:effectLst/>
              </a:rPr>
              <a:t>): Można sprawdzić, czy wygenerowany PIN unikalnie identyfikuje stworzony pokój. </a:t>
            </a:r>
          </a:p>
          <a:p>
            <a:pPr marL="0" lvl="0" indent="0">
              <a:buNone/>
            </a:pPr>
            <a:r>
              <a:rPr lang="pl-PL" sz="1800" b="1" dirty="0">
                <a:effectLst/>
              </a:rPr>
              <a:t>Kryteria Akceptacji (</a:t>
            </a:r>
            <a:r>
              <a:rPr lang="pl-PL" sz="1800" b="1" dirty="0" err="1">
                <a:effectLst/>
              </a:rPr>
              <a:t>Given</a:t>
            </a:r>
            <a:r>
              <a:rPr lang="pl-PL" sz="1800" b="1" dirty="0">
                <a:effectLst/>
              </a:rPr>
              <a:t>-</a:t>
            </a:r>
            <a:r>
              <a:rPr lang="pl-PL" sz="1800" b="1" dirty="0" err="1">
                <a:effectLst/>
              </a:rPr>
              <a:t>When</a:t>
            </a:r>
            <a:r>
              <a:rPr lang="pl-PL" sz="1800" b="1" dirty="0">
                <a:effectLst/>
              </a:rPr>
              <a:t>-Then):</a:t>
            </a:r>
            <a:endParaRPr lang="pl-PL" sz="1800" dirty="0">
              <a:effectLst/>
            </a:endParaRPr>
          </a:p>
          <a:p>
            <a:r>
              <a:rPr lang="pl-PL" sz="1800" dirty="0" err="1">
                <a:effectLst/>
              </a:rPr>
              <a:t>Given</a:t>
            </a:r>
            <a:r>
              <a:rPr lang="pl-PL" sz="1800" dirty="0">
                <a:effectLst/>
              </a:rPr>
              <a:t>: Host posiada zdefiniowany zestaw pytań i ustalił czas na odpowiedź, </a:t>
            </a:r>
          </a:p>
          <a:p>
            <a:r>
              <a:rPr lang="pl-PL" sz="1800" dirty="0" err="1">
                <a:effectLst/>
              </a:rPr>
              <a:t>When</a:t>
            </a:r>
            <a:r>
              <a:rPr lang="pl-PL" sz="1800" dirty="0">
                <a:effectLst/>
              </a:rPr>
              <a:t>: Host kliknie przycisk „Utwórz arenę”, </a:t>
            </a:r>
          </a:p>
          <a:p>
            <a:r>
              <a:rPr lang="pl-PL" sz="1800" dirty="0">
                <a:effectLst/>
              </a:rPr>
              <a:t>Then: Serwer generuje 6-cyfrowy kod PIN oraz kod QR i otwiera poczekalnię w czasie rzeczywistym</a:t>
            </a:r>
            <a:r>
              <a:rPr lang="pl-PL" dirty="0">
                <a:effectLst/>
              </a:rPr>
              <a:t>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2420530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1598F089-C6CC-CC4E-0AE2-2E7100998E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811" y="697543"/>
            <a:ext cx="8398378" cy="546291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</p:spTree>
    <p:extLst>
      <p:ext uri="{BB962C8B-B14F-4D97-AF65-F5344CB8AC3E}">
        <p14:creationId xmlns:p14="http://schemas.microsoft.com/office/powerpoint/2010/main" val="442087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0DD27B8-D7B7-01D7-831A-6D35438B8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086" y="149087"/>
            <a:ext cx="12145618" cy="6917635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pl-PL" sz="2400" b="1" dirty="0">
                <a:effectLst/>
              </a:rPr>
              <a:t>User Story 4 - </a:t>
            </a:r>
            <a:r>
              <a:rPr lang="pl-PL" sz="2400" dirty="0"/>
              <a:t>Dołączenie do gry na żywo</a:t>
            </a:r>
            <a:endParaRPr lang="pl-PL" sz="2400" b="1" dirty="0">
              <a:effectLst/>
            </a:endParaRPr>
          </a:p>
          <a:p>
            <a:pPr marL="0" lvl="0" indent="0">
              <a:buNone/>
            </a:pPr>
            <a:r>
              <a:rPr lang="pl-PL" dirty="0">
                <a:effectLst/>
              </a:rPr>
              <a:t>Jako Gracz, chcę dołączyć do pokoju Areny wpisując kod PIN oraz swój pseudonim na smartfonie lub w przeglądarce, aby natychmiast wziąć udział w grze bez konieczności zakładania konta.</a:t>
            </a:r>
          </a:p>
          <a:p>
            <a:pPr marL="0" lvl="0" indent="0">
              <a:buNone/>
            </a:pPr>
            <a:r>
              <a:rPr lang="pl-PL" sz="1800" b="1" dirty="0">
                <a:effectLst/>
              </a:rPr>
              <a:t>Kryteria INVEST (Pełne):</a:t>
            </a:r>
            <a:endParaRPr lang="pl-PL" sz="1800" dirty="0">
              <a:effectLst/>
            </a:endParaRPr>
          </a:p>
          <a:p>
            <a:r>
              <a:rPr lang="pl-PL" sz="1600" dirty="0">
                <a:effectLst/>
              </a:rPr>
              <a:t>I (Independent): </a:t>
            </a:r>
            <a:r>
              <a:rPr lang="pl-PL" sz="1600" dirty="0"/>
              <a:t>Funkcja dołączania do gry działa w pełni niezależnie od zakładania konta czy edycji quizów</a:t>
            </a:r>
            <a:r>
              <a:rPr lang="pl-PL" sz="1600" dirty="0">
                <a:effectLst/>
              </a:rPr>
              <a:t>. </a:t>
            </a:r>
          </a:p>
          <a:p>
            <a:r>
              <a:rPr lang="pl-PL" sz="1600" dirty="0">
                <a:effectLst/>
              </a:rPr>
              <a:t>N (</a:t>
            </a:r>
            <a:r>
              <a:rPr lang="pl-PL" sz="1600" dirty="0" err="1">
                <a:effectLst/>
              </a:rPr>
              <a:t>Negotiable</a:t>
            </a:r>
            <a:r>
              <a:rPr lang="pl-PL" sz="1600" dirty="0">
                <a:effectLst/>
              </a:rPr>
              <a:t>): </a:t>
            </a:r>
            <a:r>
              <a:rPr lang="pl-PL" sz="1600" dirty="0"/>
              <a:t>Dodatkowe opcje profilu gracza (np. unikalny </a:t>
            </a:r>
            <a:r>
              <a:rPr lang="pl-PL" sz="1600" dirty="0" err="1"/>
              <a:t>nick</a:t>
            </a:r>
            <a:r>
              <a:rPr lang="pl-PL" sz="1600" dirty="0"/>
              <a:t> czy </a:t>
            </a:r>
            <a:r>
              <a:rPr lang="pl-PL" sz="1600" dirty="0" err="1"/>
              <a:t>avatar</a:t>
            </a:r>
            <a:r>
              <a:rPr lang="pl-PL" sz="1600" dirty="0"/>
              <a:t>) można modyfikować podczas tworzenia UI</a:t>
            </a:r>
            <a:r>
              <a:rPr lang="pl-PL" sz="1600" dirty="0">
                <a:effectLst/>
              </a:rPr>
              <a:t>. </a:t>
            </a:r>
          </a:p>
          <a:p>
            <a:r>
              <a:rPr lang="pl-PL" sz="1600" dirty="0">
                <a:effectLst/>
              </a:rPr>
              <a:t>V (</a:t>
            </a:r>
            <a:r>
              <a:rPr lang="pl-PL" sz="1600" dirty="0" err="1">
                <a:effectLst/>
              </a:rPr>
              <a:t>Valuable</a:t>
            </a:r>
            <a:r>
              <a:rPr lang="pl-PL" sz="1600" dirty="0">
                <a:effectLst/>
              </a:rPr>
              <a:t>): Usuwa bariery wejścia, pozwalając dowolnej osobie dołączyć do gry w parę sekund. </a:t>
            </a:r>
          </a:p>
          <a:p>
            <a:r>
              <a:rPr lang="pl-PL" sz="1600" dirty="0">
                <a:effectLst/>
              </a:rPr>
              <a:t>E (</a:t>
            </a:r>
            <a:r>
              <a:rPr lang="pl-PL" sz="1600" dirty="0" err="1">
                <a:effectLst/>
              </a:rPr>
              <a:t>Estimable</a:t>
            </a:r>
            <a:r>
              <a:rPr lang="pl-PL" sz="1600" dirty="0">
                <a:effectLst/>
              </a:rPr>
              <a:t>): </a:t>
            </a:r>
            <a:r>
              <a:rPr lang="pl-PL" sz="1600" dirty="0"/>
              <a:t>Mechanizm dołączania do gry w czasie rzeczywistym jest jasny, co pozwala zespołowi łatwo oszacować czas wykonania.</a:t>
            </a:r>
          </a:p>
          <a:p>
            <a:r>
              <a:rPr lang="pl-PL" sz="1600" dirty="0">
                <a:effectLst/>
              </a:rPr>
              <a:t>S (Small): </a:t>
            </a:r>
            <a:r>
              <a:rPr lang="pl-PL" sz="1600" dirty="0"/>
              <a:t>Zakres zadania ogranicza się do prostego wpisania PIN-u i </a:t>
            </a:r>
            <a:r>
              <a:rPr lang="pl-PL" sz="1600" dirty="0" err="1"/>
              <a:t>nicku</a:t>
            </a:r>
            <a:r>
              <a:rPr lang="pl-PL" sz="1600" dirty="0"/>
              <a:t> oraz dołączenia do pokoju. </a:t>
            </a:r>
            <a:endParaRPr lang="pl-PL" sz="1600" dirty="0">
              <a:effectLst/>
            </a:endParaRPr>
          </a:p>
          <a:p>
            <a:r>
              <a:rPr lang="pl-PL" sz="1600" dirty="0">
                <a:effectLst/>
              </a:rPr>
              <a:t>T (</a:t>
            </a:r>
            <a:r>
              <a:rPr lang="pl-PL" sz="1600" dirty="0" err="1">
                <a:effectLst/>
              </a:rPr>
              <a:t>Testable</a:t>
            </a:r>
            <a:r>
              <a:rPr lang="pl-PL" sz="1600" dirty="0">
                <a:effectLst/>
              </a:rPr>
              <a:t>): Test sprowadza się do weryfikacji, czy podanie błędnego PIN-u blokuje wejście, a poprawnego — wpuszcza do poczekalni. </a:t>
            </a:r>
          </a:p>
          <a:p>
            <a:pPr marL="0" lvl="0" indent="0">
              <a:buNone/>
            </a:pPr>
            <a:r>
              <a:rPr lang="pl-PL" sz="1800" b="1" dirty="0">
                <a:effectLst/>
              </a:rPr>
              <a:t>Kryteria Akceptacji (</a:t>
            </a:r>
            <a:r>
              <a:rPr lang="pl-PL" sz="1800" b="1" dirty="0" err="1">
                <a:effectLst/>
              </a:rPr>
              <a:t>Given</a:t>
            </a:r>
            <a:r>
              <a:rPr lang="pl-PL" sz="1800" b="1" dirty="0">
                <a:effectLst/>
              </a:rPr>
              <a:t>-</a:t>
            </a:r>
            <a:r>
              <a:rPr lang="pl-PL" sz="1800" b="1" dirty="0" err="1">
                <a:effectLst/>
              </a:rPr>
              <a:t>When</a:t>
            </a:r>
            <a:r>
              <a:rPr lang="pl-PL" sz="1800" b="1" dirty="0">
                <a:effectLst/>
              </a:rPr>
              <a:t>-Then):</a:t>
            </a:r>
            <a:endParaRPr lang="pl-PL" sz="1800" dirty="0">
              <a:effectLst/>
            </a:endParaRPr>
          </a:p>
          <a:p>
            <a:r>
              <a:rPr lang="pl-PL" sz="1600" dirty="0" err="1">
                <a:effectLst/>
              </a:rPr>
              <a:t>Given</a:t>
            </a:r>
            <a:r>
              <a:rPr lang="pl-PL" sz="1600" dirty="0">
                <a:effectLst/>
              </a:rPr>
              <a:t>: Pokój Areny o podanym PIN-</a:t>
            </a:r>
            <a:r>
              <a:rPr lang="pl-PL" sz="1600" dirty="0" err="1">
                <a:effectLst/>
              </a:rPr>
              <a:t>ie</a:t>
            </a:r>
            <a:r>
              <a:rPr lang="pl-PL" sz="1600" dirty="0">
                <a:effectLst/>
              </a:rPr>
              <a:t> istnieje i oczekuje na graczy, </a:t>
            </a:r>
          </a:p>
          <a:p>
            <a:r>
              <a:rPr lang="pl-PL" sz="1600" dirty="0" err="1">
                <a:effectLst/>
              </a:rPr>
              <a:t>When</a:t>
            </a:r>
            <a:r>
              <a:rPr lang="pl-PL" sz="1600" dirty="0">
                <a:effectLst/>
              </a:rPr>
              <a:t>: Gracz wprowadzi prawidłowy PIN oraz </a:t>
            </a:r>
            <a:r>
              <a:rPr lang="pl-PL" sz="1600" dirty="0" err="1">
                <a:effectLst/>
              </a:rPr>
              <a:t>nick</a:t>
            </a:r>
            <a:r>
              <a:rPr lang="pl-PL" sz="1600" dirty="0">
                <a:effectLst/>
              </a:rPr>
              <a:t> i zatwierdzi formularz, </a:t>
            </a:r>
          </a:p>
          <a:p>
            <a:r>
              <a:rPr lang="pl-PL" sz="1600" dirty="0">
                <a:effectLst/>
              </a:rPr>
              <a:t>Then: Aplikacja nawiązuje połączenie, dodaje gracza do listy i wyświetla ekran oczekiwania na start. 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2264996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5548A133-1D5A-979E-615E-9871E07BCC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3440" y="873075"/>
            <a:ext cx="9185120" cy="5368588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</p:spTree>
    <p:extLst>
      <p:ext uri="{BB962C8B-B14F-4D97-AF65-F5344CB8AC3E}">
        <p14:creationId xmlns:p14="http://schemas.microsoft.com/office/powerpoint/2010/main" val="28420772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C3C2BD5-26C5-0B1D-7A18-F58105574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148" y="427383"/>
            <a:ext cx="11913704" cy="596347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pl-PL" sz="2600" b="1" dirty="0">
                <a:effectLst/>
              </a:rPr>
              <a:t>User Story 5 - </a:t>
            </a:r>
            <a:r>
              <a:rPr lang="pl-PL" sz="2600" dirty="0">
                <a:effectLst/>
              </a:rPr>
              <a:t>Rozgrywka z dynamicznym punktowaniem </a:t>
            </a:r>
            <a:r>
              <a:rPr lang="pl-PL" sz="2600" b="1" dirty="0">
                <a:effectLst/>
              </a:rPr>
              <a:t>:</a:t>
            </a:r>
          </a:p>
          <a:p>
            <a:pPr marL="0" indent="0">
              <a:buNone/>
            </a:pPr>
            <a:endParaRPr lang="pl-PL" sz="2600" dirty="0">
              <a:effectLst/>
            </a:endParaRPr>
          </a:p>
          <a:p>
            <a:pPr marL="0" lvl="0" indent="0">
              <a:buNone/>
            </a:pPr>
            <a:r>
              <a:rPr lang="pl-PL" dirty="0">
                <a:effectLst/>
              </a:rPr>
              <a:t>Jako Gracz, chcę zaznaczać odpowiedzi w wyznaczonym czasie i natychmiast widzieć uzyskane punkty oraz pozycję w rankingu, aby odczuwać satysfakcję i dynamikę rywalizacji w czasie rzeczywistym. </a:t>
            </a:r>
          </a:p>
          <a:p>
            <a:pPr marL="0" lvl="0" indent="0">
              <a:buNone/>
            </a:pPr>
            <a:r>
              <a:rPr lang="pl-PL" b="1" dirty="0">
                <a:effectLst/>
              </a:rPr>
              <a:t>Kryteria INVEST (Pełne):</a:t>
            </a:r>
            <a:endParaRPr lang="pl-PL" dirty="0">
              <a:effectLst/>
            </a:endParaRPr>
          </a:p>
          <a:p>
            <a:r>
              <a:rPr lang="pl-PL" dirty="0">
                <a:effectLst/>
              </a:rPr>
              <a:t>I (Independent): Moduł odpowiadania na pytania jest niezależny od etapu poczekalni i tworzenia talii. </a:t>
            </a:r>
          </a:p>
          <a:p>
            <a:r>
              <a:rPr lang="pl-PL" dirty="0">
                <a:effectLst/>
              </a:rPr>
              <a:t>N (</a:t>
            </a:r>
            <a:r>
              <a:rPr lang="pl-PL" dirty="0" err="1">
                <a:effectLst/>
              </a:rPr>
              <a:t>Negotiable</a:t>
            </a:r>
            <a:r>
              <a:rPr lang="pl-PL" dirty="0">
                <a:effectLst/>
              </a:rPr>
              <a:t>): Algorytm przeliczania punktów na podstawie czasu reakcji można modyfikować. </a:t>
            </a:r>
          </a:p>
          <a:p>
            <a:r>
              <a:rPr lang="pl-PL" dirty="0">
                <a:effectLst/>
              </a:rPr>
              <a:t>V (</a:t>
            </a:r>
            <a:r>
              <a:rPr lang="pl-PL" dirty="0" err="1">
                <a:effectLst/>
              </a:rPr>
              <a:t>Valuable</a:t>
            </a:r>
            <a:r>
              <a:rPr lang="pl-PL" dirty="0">
                <a:effectLst/>
              </a:rPr>
              <a:t>): Napędza element grywalizacji i daje natychmiastową informację zwrotną o wyniku. </a:t>
            </a:r>
          </a:p>
          <a:p>
            <a:r>
              <a:rPr lang="pl-PL" dirty="0">
                <a:effectLst/>
              </a:rPr>
              <a:t>E (</a:t>
            </a:r>
            <a:r>
              <a:rPr lang="pl-PL" dirty="0" err="1">
                <a:effectLst/>
              </a:rPr>
              <a:t>Estimable</a:t>
            </a:r>
            <a:r>
              <a:rPr lang="pl-PL" dirty="0">
                <a:effectLst/>
              </a:rPr>
              <a:t>): Przesyłanie odpowiedzi i wyliczanie wyniku jest proste do zmierzenia czasowo. </a:t>
            </a:r>
          </a:p>
          <a:p>
            <a:r>
              <a:rPr lang="pl-PL" dirty="0">
                <a:effectLst/>
              </a:rPr>
              <a:t>S (Small): Zamyka się w pojedynczej akcji oddania głosu i wyświetlenia wyniku pytania. </a:t>
            </a:r>
          </a:p>
          <a:p>
            <a:r>
              <a:rPr lang="pl-PL" dirty="0">
                <a:effectLst/>
              </a:rPr>
              <a:t>T (</a:t>
            </a:r>
            <a:r>
              <a:rPr lang="pl-PL" dirty="0" err="1">
                <a:effectLst/>
              </a:rPr>
              <a:t>Testable</a:t>
            </a:r>
            <a:r>
              <a:rPr lang="pl-PL" dirty="0">
                <a:effectLst/>
              </a:rPr>
              <a:t>): Można jednoznacznie przetestować, czy odpowiedź po upływie </a:t>
            </a:r>
            <a:r>
              <a:rPr lang="pl-PL" dirty="0" err="1">
                <a:effectLst/>
              </a:rPr>
              <a:t>timera</a:t>
            </a:r>
            <a:r>
              <a:rPr lang="pl-PL" dirty="0">
                <a:effectLst/>
              </a:rPr>
              <a:t> jest odrzucana oraz czy punkty są naliczane prawidłowo. </a:t>
            </a:r>
          </a:p>
          <a:p>
            <a:pPr marL="0" lvl="0" indent="0">
              <a:buNone/>
            </a:pPr>
            <a:r>
              <a:rPr lang="pl-PL" b="1" dirty="0">
                <a:effectLst/>
              </a:rPr>
              <a:t>Kryteria Akceptacji (</a:t>
            </a:r>
            <a:r>
              <a:rPr lang="pl-PL" b="1" dirty="0" err="1">
                <a:effectLst/>
              </a:rPr>
              <a:t>Given</a:t>
            </a:r>
            <a:r>
              <a:rPr lang="pl-PL" b="1" dirty="0">
                <a:effectLst/>
              </a:rPr>
              <a:t>-</a:t>
            </a:r>
            <a:r>
              <a:rPr lang="pl-PL" b="1" dirty="0" err="1">
                <a:effectLst/>
              </a:rPr>
              <a:t>When</a:t>
            </a:r>
            <a:r>
              <a:rPr lang="pl-PL" b="1" dirty="0">
                <a:effectLst/>
              </a:rPr>
              <a:t>-Then):</a:t>
            </a:r>
            <a:endParaRPr lang="pl-PL" dirty="0">
              <a:effectLst/>
            </a:endParaRPr>
          </a:p>
          <a:p>
            <a:r>
              <a:rPr lang="pl-PL" dirty="0" err="1">
                <a:effectLst/>
              </a:rPr>
              <a:t>Given</a:t>
            </a:r>
            <a:r>
              <a:rPr lang="pl-PL" dirty="0">
                <a:effectLst/>
              </a:rPr>
              <a:t>: Gra została rozpoczęta przez hosta, a na ekranie wyświetla się pytanie z </a:t>
            </a:r>
            <a:r>
              <a:rPr lang="pl-PL" dirty="0" err="1">
                <a:effectLst/>
              </a:rPr>
              <a:t>timerem</a:t>
            </a:r>
            <a:r>
              <a:rPr lang="pl-PL" dirty="0">
                <a:effectLst/>
              </a:rPr>
              <a:t>, </a:t>
            </a:r>
          </a:p>
          <a:p>
            <a:r>
              <a:rPr lang="pl-PL" dirty="0" err="1">
                <a:effectLst/>
              </a:rPr>
              <a:t>When</a:t>
            </a:r>
            <a:r>
              <a:rPr lang="pl-PL" dirty="0">
                <a:effectLst/>
              </a:rPr>
              <a:t>: Gracz wybierze jeden z wariantów odpowiedzi przed upływem limitu czasu, </a:t>
            </a:r>
          </a:p>
          <a:p>
            <a:r>
              <a:rPr lang="pl-PL" dirty="0">
                <a:effectLst/>
              </a:rPr>
              <a:t>Then: Serwer rejestruje wybór, przelicza punkty na podstawie czasu reakcji i po zakończeniu odliczania wyświetla status odpowiedzi oraz aktualne podium.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2518029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F9A6506D-DB83-691D-60AF-7D6EB6B4F1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327" y="644700"/>
            <a:ext cx="8341345" cy="5568599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</p:spTree>
    <p:extLst>
      <p:ext uri="{BB962C8B-B14F-4D97-AF65-F5344CB8AC3E}">
        <p14:creationId xmlns:p14="http://schemas.microsoft.com/office/powerpoint/2010/main" val="12318762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AF9631CD-16D0-02A9-BE06-60BE136BB7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" y="2015692"/>
            <a:ext cx="12189852" cy="3172534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806A18E1-71E4-69DE-BD72-5C3EB3F8084F}"/>
              </a:ext>
            </a:extLst>
          </p:cNvPr>
          <p:cNvSpPr txBox="1"/>
          <p:nvPr/>
        </p:nvSpPr>
        <p:spPr>
          <a:xfrm>
            <a:off x="854765" y="765314"/>
            <a:ext cx="121898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b="1" dirty="0"/>
              <a:t>Diagram Wymagań (</a:t>
            </a:r>
            <a:r>
              <a:rPr lang="pl-PL" sz="3200" b="1" dirty="0" err="1"/>
              <a:t>Requirements</a:t>
            </a:r>
            <a:r>
              <a:rPr lang="pl-PL" sz="3200" b="1" dirty="0"/>
              <a:t> Diagram) </a:t>
            </a:r>
            <a:r>
              <a:rPr lang="pl-PL" sz="3200" b="1" dirty="0" err="1"/>
              <a:t>SysML</a:t>
            </a:r>
            <a:endParaRPr lang="pl-PL" sz="3200" b="1" dirty="0"/>
          </a:p>
        </p:txBody>
      </p:sp>
    </p:spTree>
    <p:extLst>
      <p:ext uri="{BB962C8B-B14F-4D97-AF65-F5344CB8AC3E}">
        <p14:creationId xmlns:p14="http://schemas.microsoft.com/office/powerpoint/2010/main" val="20913352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ostokąt 4">
            <a:extLst>
              <a:ext uri="{FF2B5EF4-FFF2-40B4-BE49-F238E27FC236}">
                <a16:creationId xmlns:a16="http://schemas.microsoft.com/office/drawing/2014/main" id="{9019D193-90B9-6885-0168-AAA256B2A106}"/>
              </a:ext>
            </a:extLst>
          </p:cNvPr>
          <p:cNvSpPr/>
          <p:nvPr/>
        </p:nvSpPr>
        <p:spPr>
          <a:xfrm>
            <a:off x="476250" y="2967335"/>
            <a:ext cx="11239500" cy="9233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l-PL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DZIĘKUJEMY ZA UWAGĘ!</a:t>
            </a:r>
          </a:p>
        </p:txBody>
      </p:sp>
    </p:spTree>
    <p:extLst>
      <p:ext uri="{BB962C8B-B14F-4D97-AF65-F5344CB8AC3E}">
        <p14:creationId xmlns:p14="http://schemas.microsoft.com/office/powerpoint/2010/main" val="39307893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iatka">
  <a:themeElements>
    <a:clrScheme name="Fioletowy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Siatka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iatk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TM03457485[[fn=Siatka]]</Template>
  <TotalTime>5577</TotalTime>
  <Words>1735</Words>
  <Application>Microsoft Office PowerPoint</Application>
  <PresentationFormat>Panoramiczny</PresentationFormat>
  <Paragraphs>127</Paragraphs>
  <Slides>30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30</vt:i4>
      </vt:variant>
    </vt:vector>
  </HeadingPairs>
  <TitlesOfParts>
    <vt:vector size="33" baseType="lpstr">
      <vt:lpstr>Arial</vt:lpstr>
      <vt:lpstr>Century Gothic</vt:lpstr>
      <vt:lpstr>Siatka</vt:lpstr>
      <vt:lpstr>QUIZINGER</vt:lpstr>
      <vt:lpstr>POMYSŁ</vt:lpstr>
      <vt:lpstr>badanie rynku</vt:lpstr>
      <vt:lpstr>Prezentacja programu PowerPoint</vt:lpstr>
      <vt:lpstr>Badanie rynku   odpowiedzi studentów ( i nie tylko) z różnych środowisk 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Historie UŻYTKOWNIKA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Amelia Nowacka</dc:creator>
  <cp:lastModifiedBy>Amelia Nowacka</cp:lastModifiedBy>
  <cp:revision>5</cp:revision>
  <dcterms:created xsi:type="dcterms:W3CDTF">2026-10-15T13:51:08Z</dcterms:created>
  <dcterms:modified xsi:type="dcterms:W3CDTF">2026-10-19T14:04:29Z</dcterms:modified>
</cp:coreProperties>
</file>